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0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1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2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3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4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5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charts/chart16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7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8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9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9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ECC67-11FD-481C-A115-3C097C18C0CB}" v="11" dt="2026-04-04T17:19:21.7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18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D:\SQL%20project\RCB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8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9.xml.rels><?xml version="1.0" encoding="UTF-8" standalone="yes"?>
<Relationships xmlns="http://schemas.openxmlformats.org/package/2006/relationships"><Relationship Id="rId3" Type="http://schemas.openxmlformats.org/officeDocument/2006/relationships/oleObject" Target="file:///D:\SQL%20project\RCB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'Q5 Objective (2)'!$D$1</c:f>
              <c:strCache>
                <c:ptCount val="1"/>
                <c:pt idx="0">
                  <c:v>Strike_rate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">
                <a:rot lat="0" lon="0" rev="1200000"/>
              </a:lightRig>
            </a:scene3d>
            <a:sp3d>
              <a:bevelT w="63500" h="25400"/>
            </a:sp3d>
          </c:spPr>
          <c:invertIfNegative val="0"/>
          <c:cat>
            <c:strRef>
              <c:f>'Q5 Objective (2)'!$A$2:$A$11</c:f>
              <c:strCache>
                <c:ptCount val="10"/>
                <c:pt idx="0">
                  <c:v>MS Dhoni</c:v>
                </c:pt>
                <c:pt idx="1">
                  <c:v>JP Faulkner</c:v>
                </c:pt>
                <c:pt idx="2">
                  <c:v>YK Pathan</c:v>
                </c:pt>
                <c:pt idx="3">
                  <c:v>NLTC Perera</c:v>
                </c:pt>
                <c:pt idx="4">
                  <c:v>DA Warner</c:v>
                </c:pt>
                <c:pt idx="5">
                  <c:v>DA Miller</c:v>
                </c:pt>
                <c:pt idx="6">
                  <c:v>KA Pollard</c:v>
                </c:pt>
                <c:pt idx="7">
                  <c:v>GJ Maxwell</c:v>
                </c:pt>
                <c:pt idx="8">
                  <c:v>AD Russell</c:v>
                </c:pt>
                <c:pt idx="9">
                  <c:v>AB de Villiers</c:v>
                </c:pt>
              </c:strCache>
            </c:strRef>
          </c:cat>
          <c:val>
            <c:numRef>
              <c:f>'Q5 Objective (2)'!$D$2:$D$11</c:f>
              <c:numCache>
                <c:formatCode>General</c:formatCode>
                <c:ptCount val="10"/>
                <c:pt idx="0">
                  <c:v>137.13999999999999</c:v>
                </c:pt>
                <c:pt idx="1">
                  <c:v>138.66999999999999</c:v>
                </c:pt>
                <c:pt idx="2">
                  <c:v>139.28</c:v>
                </c:pt>
                <c:pt idx="3">
                  <c:v>139.58000000000001</c:v>
                </c:pt>
                <c:pt idx="4">
                  <c:v>141.02000000000001</c:v>
                </c:pt>
                <c:pt idx="5">
                  <c:v>141.6</c:v>
                </c:pt>
                <c:pt idx="6">
                  <c:v>142.86000000000001</c:v>
                </c:pt>
                <c:pt idx="7">
                  <c:v>156.69999999999999</c:v>
                </c:pt>
                <c:pt idx="8">
                  <c:v>163.16</c:v>
                </c:pt>
                <c:pt idx="9">
                  <c:v>163.74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C13-42A3-BA87-6107F3A1B6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388622511"/>
        <c:axId val="3886076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'Q5 Objective (2)'!$B$1</c15:sqref>
                        </c15:formulaRef>
                      </c:ext>
                    </c:extLst>
                    <c:strCache>
                      <c:ptCount val="1"/>
                      <c:pt idx="0">
                        <c:v>total_balls_played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hade val="51000"/>
                          <a:satMod val="130000"/>
                        </a:schemeClr>
                      </a:gs>
                      <a:gs pos="80000">
                        <a:schemeClr val="accent2">
                          <a:shade val="93000"/>
                          <a:satMod val="130000"/>
                        </a:schemeClr>
                      </a:gs>
                      <a:gs pos="100000">
                        <a:schemeClr val="accent2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'Q5 Objective (2)'!$B$2:$B$11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1085</c:v>
                      </c:pt>
                      <c:pt idx="1">
                        <c:v>331</c:v>
                      </c:pt>
                      <c:pt idx="2">
                        <c:v>914</c:v>
                      </c:pt>
                      <c:pt idx="3">
                        <c:v>283</c:v>
                      </c:pt>
                      <c:pt idx="4">
                        <c:v>1665</c:v>
                      </c:pt>
                      <c:pt idx="5">
                        <c:v>976</c:v>
                      </c:pt>
                      <c:pt idx="6">
                        <c:v>924</c:v>
                      </c:pt>
                      <c:pt idx="7">
                        <c:v>582</c:v>
                      </c:pt>
                      <c:pt idx="8">
                        <c:v>323</c:v>
                      </c:pt>
                      <c:pt idx="9">
                        <c:v>1194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2C13-42A3-BA87-6107F3A1B6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hade val="51000"/>
                          <a:satMod val="130000"/>
                        </a:schemeClr>
                      </a:gs>
                      <a:gs pos="80000">
                        <a:schemeClr val="accent4">
                          <a:shade val="93000"/>
                          <a:satMod val="130000"/>
                        </a:schemeClr>
                      </a:gs>
                      <a:gs pos="100000">
                        <a:schemeClr val="accent4">
                          <a:shade val="94000"/>
                          <a:satMod val="135000"/>
                        </a:schemeClr>
                      </a:gs>
                    </a:gsLst>
                    <a:lin ang="16200000" scaled="0"/>
                  </a:gradFill>
                  <a:ln>
                    <a:noFill/>
                  </a:ln>
                  <a:effectLst>
                    <a:outerShdw blurRad="40000" dist="23000" dir="5400000" rotWithShape="0">
                      <a:srgbClr val="000000">
                        <a:alpha val="35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">
                      <a:rot lat="0" lon="0" rev="1200000"/>
                    </a:lightRig>
                  </a:scene3d>
                  <a:sp3d>
                    <a:bevelT w="63500" h="25400"/>
                  </a:sp3d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(2)'!$A$2:$A$11</c15:sqref>
                        </c15:formulaRef>
                      </c:ext>
                    </c:extLst>
                    <c:strCache>
                      <c:ptCount val="10"/>
                      <c:pt idx="0">
                        <c:v>MS Dhoni</c:v>
                      </c:pt>
                      <c:pt idx="1">
                        <c:v>JP Faulkner</c:v>
                      </c:pt>
                      <c:pt idx="2">
                        <c:v>YK Pathan</c:v>
                      </c:pt>
                      <c:pt idx="3">
                        <c:v>NLTC Perera</c:v>
                      </c:pt>
                      <c:pt idx="4">
                        <c:v>DA Warner</c:v>
                      </c:pt>
                      <c:pt idx="5">
                        <c:v>DA Miller</c:v>
                      </c:pt>
                      <c:pt idx="6">
                        <c:v>KA Pollard</c:v>
                      </c:pt>
                      <c:pt idx="7">
                        <c:v>GJ Maxwell</c:v>
                      </c:pt>
                      <c:pt idx="8">
                        <c:v>AD Russell</c:v>
                      </c:pt>
                      <c:pt idx="9">
                        <c:v>AB de Villiers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'Q5 Objective (2)'!$C$2:$C$11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1488</c:v>
                      </c:pt>
                      <c:pt idx="1">
                        <c:v>459</c:v>
                      </c:pt>
                      <c:pt idx="2">
                        <c:v>1273</c:v>
                      </c:pt>
                      <c:pt idx="3">
                        <c:v>395</c:v>
                      </c:pt>
                      <c:pt idx="4">
                        <c:v>2348</c:v>
                      </c:pt>
                      <c:pt idx="5">
                        <c:v>1382</c:v>
                      </c:pt>
                      <c:pt idx="6">
                        <c:v>1320</c:v>
                      </c:pt>
                      <c:pt idx="7">
                        <c:v>912</c:v>
                      </c:pt>
                      <c:pt idx="8">
                        <c:v>527</c:v>
                      </c:pt>
                      <c:pt idx="9">
                        <c:v>1955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2C13-42A3-BA87-6107F3A1B6BD}"/>
                  </c:ext>
                </c:extLst>
              </c15:ser>
            </c15:filteredBarSeries>
          </c:ext>
        </c:extLst>
      </c:barChart>
      <c:catAx>
        <c:axId val="38862251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07631"/>
        <c:crosses val="autoZero"/>
        <c:auto val="1"/>
        <c:lblAlgn val="ctr"/>
        <c:lblOffset val="100"/>
        <c:noMultiLvlLbl val="0"/>
      </c:catAx>
      <c:valAx>
        <c:axId val="388607631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251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layout>
        <c:manualLayout>
          <c:xMode val="edge"/>
          <c:yMode val="edge"/>
          <c:x val="0.39431273602438172"/>
          <c:y val="3.1037353271370638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'Q6 Objective'!$E$1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'Q6 Objective'!$B$2:$B$62</c:f>
              <c:strCache>
                <c:ptCount val="37"/>
                <c:pt idx="0">
                  <c:v>PA Patel</c:v>
                </c:pt>
                <c:pt idx="1">
                  <c:v>SV Samson</c:v>
                </c:pt>
                <c:pt idx="2">
                  <c:v>Yuvraj Singh</c:v>
                </c:pt>
                <c:pt idx="3">
                  <c:v>EJG Morgan</c:v>
                </c:pt>
                <c:pt idx="4">
                  <c:v>MK Pandey</c:v>
                </c:pt>
                <c:pt idx="5">
                  <c:v>KD Karthik</c:v>
                </c:pt>
                <c:pt idx="6">
                  <c:v>V Sehwag</c:v>
                </c:pt>
                <c:pt idx="7">
                  <c:v>KA Pollard</c:v>
                </c:pt>
                <c:pt idx="8">
                  <c:v>AT Rayudu</c:v>
                </c:pt>
                <c:pt idx="9">
                  <c:v>M Vohra</c:v>
                </c:pt>
                <c:pt idx="10">
                  <c:v>GJ Maxwell</c:v>
                </c:pt>
                <c:pt idx="11">
                  <c:v>WP Saha</c:v>
                </c:pt>
                <c:pt idx="12">
                  <c:v>KK Nair</c:v>
                </c:pt>
                <c:pt idx="13">
                  <c:v>M Vijay</c:v>
                </c:pt>
                <c:pt idx="14">
                  <c:v>YK Pathan</c:v>
                </c:pt>
                <c:pt idx="15">
                  <c:v>KL Rahul</c:v>
                </c:pt>
                <c:pt idx="16">
                  <c:v>MS Dhoni</c:v>
                </c:pt>
                <c:pt idx="17">
                  <c:v>SR Watson</c:v>
                </c:pt>
                <c:pt idx="18">
                  <c:v>DA Miller</c:v>
                </c:pt>
                <c:pt idx="19">
                  <c:v>G Gambhir</c:v>
                </c:pt>
                <c:pt idx="20">
                  <c:v>SPD Smith</c:v>
                </c:pt>
                <c:pt idx="21">
                  <c:v>BB McCullum</c:v>
                </c:pt>
                <c:pt idx="22">
                  <c:v>F du Plessis</c:v>
                </c:pt>
                <c:pt idx="23">
                  <c:v>Q de Kock</c:v>
                </c:pt>
                <c:pt idx="24">
                  <c:v>S Dhawan</c:v>
                </c:pt>
                <c:pt idx="25">
                  <c:v>AJ Finch</c:v>
                </c:pt>
                <c:pt idx="26">
                  <c:v>SK Raina</c:v>
                </c:pt>
                <c:pt idx="27">
                  <c:v>JP Duminy</c:v>
                </c:pt>
                <c:pt idx="28">
                  <c:v>RG Sharma</c:v>
                </c:pt>
                <c:pt idx="29">
                  <c:v>DR Smith</c:v>
                </c:pt>
                <c:pt idx="30">
                  <c:v>RV Uthappa</c:v>
                </c:pt>
                <c:pt idx="31">
                  <c:v>AM Rahane</c:v>
                </c:pt>
                <c:pt idx="32">
                  <c:v>CH Gayle</c:v>
                </c:pt>
                <c:pt idx="33">
                  <c:v>MEK Hussey</c:v>
                </c:pt>
                <c:pt idx="34">
                  <c:v>AB de Villiers</c:v>
                </c:pt>
                <c:pt idx="35">
                  <c:v>DA Warner</c:v>
                </c:pt>
                <c:pt idx="36">
                  <c:v>V Kohli</c:v>
                </c:pt>
              </c:strCache>
            </c:strRef>
          </c:cat>
          <c:val>
            <c:numRef>
              <c:f>'Q6 Objective'!$E$2:$E$62</c:f>
              <c:numCache>
                <c:formatCode>General</c:formatCode>
                <c:ptCount val="37"/>
                <c:pt idx="0">
                  <c:v>20.71</c:v>
                </c:pt>
                <c:pt idx="1">
                  <c:v>21.67</c:v>
                </c:pt>
                <c:pt idx="2">
                  <c:v>21.96</c:v>
                </c:pt>
                <c:pt idx="3">
                  <c:v>22.04</c:v>
                </c:pt>
                <c:pt idx="4">
                  <c:v>22.13</c:v>
                </c:pt>
                <c:pt idx="5">
                  <c:v>22.22</c:v>
                </c:pt>
                <c:pt idx="6">
                  <c:v>22.34</c:v>
                </c:pt>
                <c:pt idx="7">
                  <c:v>22.37</c:v>
                </c:pt>
                <c:pt idx="8">
                  <c:v>22.56</c:v>
                </c:pt>
                <c:pt idx="9">
                  <c:v>22.75</c:v>
                </c:pt>
                <c:pt idx="10">
                  <c:v>22.83</c:v>
                </c:pt>
                <c:pt idx="11">
                  <c:v>23.2</c:v>
                </c:pt>
                <c:pt idx="12">
                  <c:v>23.7</c:v>
                </c:pt>
                <c:pt idx="13">
                  <c:v>23.98</c:v>
                </c:pt>
                <c:pt idx="14">
                  <c:v>24.02</c:v>
                </c:pt>
                <c:pt idx="15">
                  <c:v>24.17</c:v>
                </c:pt>
                <c:pt idx="16">
                  <c:v>24.8</c:v>
                </c:pt>
                <c:pt idx="17">
                  <c:v>24.81</c:v>
                </c:pt>
                <c:pt idx="18">
                  <c:v>25.59</c:v>
                </c:pt>
                <c:pt idx="19">
                  <c:v>26.59</c:v>
                </c:pt>
                <c:pt idx="20">
                  <c:v>26.64</c:v>
                </c:pt>
                <c:pt idx="21">
                  <c:v>26.69</c:v>
                </c:pt>
                <c:pt idx="22">
                  <c:v>26.94</c:v>
                </c:pt>
                <c:pt idx="23">
                  <c:v>27.92</c:v>
                </c:pt>
                <c:pt idx="24">
                  <c:v>28.04</c:v>
                </c:pt>
                <c:pt idx="25">
                  <c:v>28.12</c:v>
                </c:pt>
                <c:pt idx="26">
                  <c:v>28.37</c:v>
                </c:pt>
                <c:pt idx="27">
                  <c:v>29</c:v>
                </c:pt>
                <c:pt idx="28">
                  <c:v>29.67</c:v>
                </c:pt>
                <c:pt idx="29">
                  <c:v>29.95</c:v>
                </c:pt>
                <c:pt idx="30">
                  <c:v>30.87</c:v>
                </c:pt>
                <c:pt idx="31">
                  <c:v>32.4</c:v>
                </c:pt>
                <c:pt idx="32">
                  <c:v>33.35</c:v>
                </c:pt>
                <c:pt idx="33">
                  <c:v>33.97</c:v>
                </c:pt>
                <c:pt idx="34">
                  <c:v>34.53</c:v>
                </c:pt>
                <c:pt idx="35">
                  <c:v>38.49</c:v>
                </c:pt>
                <c:pt idx="36">
                  <c:v>39.869999999999997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27-41EC-A1C6-0343C4A1B04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326"/>
        <c:overlap val="-58"/>
        <c:axId val="1680937280"/>
        <c:axId val="168094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'Q6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total_matches_played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2"/>
                      </a:gs>
                      <a:gs pos="75000">
                        <a:schemeClr val="accent2">
                          <a:lumMod val="60000"/>
                          <a:lumOff val="40000"/>
                        </a:schemeClr>
                      </a:gs>
                      <a:gs pos="51000">
                        <a:schemeClr val="accent2">
                          <a:alpha val="75000"/>
                        </a:schemeClr>
                      </a:gs>
                      <a:gs pos="100000">
                        <a:schemeClr val="accent2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'Q6 Objective'!$C$2:$C$62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49</c:v>
                      </c:pt>
                      <c:pt idx="1">
                        <c:v>48</c:v>
                      </c:pt>
                      <c:pt idx="2">
                        <c:v>50</c:v>
                      </c:pt>
                      <c:pt idx="3">
                        <c:v>28</c:v>
                      </c:pt>
                      <c:pt idx="4">
                        <c:v>46</c:v>
                      </c:pt>
                      <c:pt idx="5">
                        <c:v>59</c:v>
                      </c:pt>
                      <c:pt idx="6">
                        <c:v>38</c:v>
                      </c:pt>
                      <c:pt idx="7">
                        <c:v>59</c:v>
                      </c:pt>
                      <c:pt idx="8">
                        <c:v>55</c:v>
                      </c:pt>
                      <c:pt idx="9">
                        <c:v>32</c:v>
                      </c:pt>
                      <c:pt idx="10">
                        <c:v>40</c:v>
                      </c:pt>
                      <c:pt idx="11">
                        <c:v>41</c:v>
                      </c:pt>
                      <c:pt idx="12">
                        <c:v>37</c:v>
                      </c:pt>
                      <c:pt idx="13">
                        <c:v>51</c:v>
                      </c:pt>
                      <c:pt idx="14">
                        <c:v>53</c:v>
                      </c:pt>
                      <c:pt idx="15">
                        <c:v>30</c:v>
                      </c:pt>
                      <c:pt idx="16">
                        <c:v>60</c:v>
                      </c:pt>
                      <c:pt idx="17">
                        <c:v>53</c:v>
                      </c:pt>
                      <c:pt idx="18">
                        <c:v>54</c:v>
                      </c:pt>
                      <c:pt idx="19">
                        <c:v>59</c:v>
                      </c:pt>
                      <c:pt idx="20">
                        <c:v>33</c:v>
                      </c:pt>
                      <c:pt idx="21">
                        <c:v>45</c:v>
                      </c:pt>
                      <c:pt idx="22">
                        <c:v>33</c:v>
                      </c:pt>
                      <c:pt idx="23">
                        <c:v>26</c:v>
                      </c:pt>
                      <c:pt idx="24">
                        <c:v>55</c:v>
                      </c:pt>
                      <c:pt idx="25">
                        <c:v>42</c:v>
                      </c:pt>
                      <c:pt idx="26">
                        <c:v>65</c:v>
                      </c:pt>
                      <c:pt idx="27">
                        <c:v>35</c:v>
                      </c:pt>
                      <c:pt idx="28">
                        <c:v>64</c:v>
                      </c:pt>
                      <c:pt idx="29">
                        <c:v>57</c:v>
                      </c:pt>
                      <c:pt idx="30">
                        <c:v>60</c:v>
                      </c:pt>
                      <c:pt idx="31">
                        <c:v>57</c:v>
                      </c:pt>
                      <c:pt idx="32">
                        <c:v>49</c:v>
                      </c:pt>
                      <c:pt idx="33">
                        <c:v>30</c:v>
                      </c:pt>
                      <c:pt idx="34">
                        <c:v>57</c:v>
                      </c:pt>
                      <c:pt idx="35">
                        <c:v>61</c:v>
                      </c:pt>
                      <c:pt idx="36">
                        <c:v>62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9F27-41EC-A1C6-0343C4A1B04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total_runs_scored</c:v>
                      </c:pt>
                    </c:strCache>
                  </c:strRef>
                </c:tx>
                <c:spPr>
                  <a:gradFill flip="none" rotWithShape="1">
                    <a:gsLst>
                      <a:gs pos="0">
                        <a:schemeClr val="accent4"/>
                      </a:gs>
                      <a:gs pos="75000">
                        <a:schemeClr val="accent4">
                          <a:lumMod val="60000"/>
                          <a:lumOff val="40000"/>
                        </a:schemeClr>
                      </a:gs>
                      <a:gs pos="51000">
                        <a:schemeClr val="accent4">
                          <a:alpha val="75000"/>
                        </a:schemeClr>
                      </a:gs>
                      <a:gs pos="100000">
                        <a:schemeClr val="accent4">
                          <a:lumMod val="20000"/>
                          <a:lumOff val="80000"/>
                          <a:alpha val="15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Objective'!$B$2:$B$62</c15:sqref>
                        </c15:formulaRef>
                      </c:ext>
                    </c:extLst>
                    <c:strCache>
                      <c:ptCount val="37"/>
                      <c:pt idx="0">
                        <c:v>PA Patel</c:v>
                      </c:pt>
                      <c:pt idx="1">
                        <c:v>SV Samson</c:v>
                      </c:pt>
                      <c:pt idx="2">
                        <c:v>Yuvraj Singh</c:v>
                      </c:pt>
                      <c:pt idx="3">
                        <c:v>EJG Morgan</c:v>
                      </c:pt>
                      <c:pt idx="4">
                        <c:v>MK Pandey</c:v>
                      </c:pt>
                      <c:pt idx="5">
                        <c:v>KD Karthik</c:v>
                      </c:pt>
                      <c:pt idx="6">
                        <c:v>V Sehwag</c:v>
                      </c:pt>
                      <c:pt idx="7">
                        <c:v>KA Pollard</c:v>
                      </c:pt>
                      <c:pt idx="8">
                        <c:v>AT Rayudu</c:v>
                      </c:pt>
                      <c:pt idx="9">
                        <c:v>M Vohra</c:v>
                      </c:pt>
                      <c:pt idx="10">
                        <c:v>GJ Maxwell</c:v>
                      </c:pt>
                      <c:pt idx="11">
                        <c:v>WP Saha</c:v>
                      </c:pt>
                      <c:pt idx="12">
                        <c:v>KK Nair</c:v>
                      </c:pt>
                      <c:pt idx="13">
                        <c:v>M Vijay</c:v>
                      </c:pt>
                      <c:pt idx="14">
                        <c:v>YK Pathan</c:v>
                      </c:pt>
                      <c:pt idx="15">
                        <c:v>KL Rahul</c:v>
                      </c:pt>
                      <c:pt idx="16">
                        <c:v>MS Dhoni</c:v>
                      </c:pt>
                      <c:pt idx="17">
                        <c:v>SR Watson</c:v>
                      </c:pt>
                      <c:pt idx="18">
                        <c:v>DA Miller</c:v>
                      </c:pt>
                      <c:pt idx="19">
                        <c:v>G Gambhir</c:v>
                      </c:pt>
                      <c:pt idx="20">
                        <c:v>SPD Smith</c:v>
                      </c:pt>
                      <c:pt idx="21">
                        <c:v>BB McCullum</c:v>
                      </c:pt>
                      <c:pt idx="22">
                        <c:v>F du Plessis</c:v>
                      </c:pt>
                      <c:pt idx="23">
                        <c:v>Q de Kock</c:v>
                      </c:pt>
                      <c:pt idx="24">
                        <c:v>S Dhawan</c:v>
                      </c:pt>
                      <c:pt idx="25">
                        <c:v>AJ Finch</c:v>
                      </c:pt>
                      <c:pt idx="26">
                        <c:v>SK Raina</c:v>
                      </c:pt>
                      <c:pt idx="27">
                        <c:v>JP Duminy</c:v>
                      </c:pt>
                      <c:pt idx="28">
                        <c:v>RG Sharma</c:v>
                      </c:pt>
                      <c:pt idx="29">
                        <c:v>DR Smith</c:v>
                      </c:pt>
                      <c:pt idx="30">
                        <c:v>RV Uthappa</c:v>
                      </c:pt>
                      <c:pt idx="31">
                        <c:v>AM Rahane</c:v>
                      </c:pt>
                      <c:pt idx="32">
                        <c:v>CH Gayle</c:v>
                      </c:pt>
                      <c:pt idx="33">
                        <c:v>MEK Hussey</c:v>
                      </c:pt>
                      <c:pt idx="34">
                        <c:v>AB de Villiers</c:v>
                      </c:pt>
                      <c:pt idx="35">
                        <c:v>DA Warner</c:v>
                      </c:pt>
                      <c:pt idx="36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'Q6 Objective'!$D$2:$D$62</c15:sqref>
                        </c15:formulaRef>
                      </c:ext>
                    </c:extLst>
                    <c:numCache>
                      <c:formatCode>General</c:formatCode>
                      <c:ptCount val="37"/>
                      <c:pt idx="0">
                        <c:v>1015</c:v>
                      </c:pt>
                      <c:pt idx="1">
                        <c:v>1040</c:v>
                      </c:pt>
                      <c:pt idx="2">
                        <c:v>1098</c:v>
                      </c:pt>
                      <c:pt idx="3">
                        <c:v>617</c:v>
                      </c:pt>
                      <c:pt idx="4">
                        <c:v>1018</c:v>
                      </c:pt>
                      <c:pt idx="5">
                        <c:v>1311</c:v>
                      </c:pt>
                      <c:pt idx="6">
                        <c:v>849</c:v>
                      </c:pt>
                      <c:pt idx="7">
                        <c:v>1320</c:v>
                      </c:pt>
                      <c:pt idx="8">
                        <c:v>1241</c:v>
                      </c:pt>
                      <c:pt idx="9">
                        <c:v>728</c:v>
                      </c:pt>
                      <c:pt idx="10">
                        <c:v>913</c:v>
                      </c:pt>
                      <c:pt idx="11">
                        <c:v>951</c:v>
                      </c:pt>
                      <c:pt idx="12">
                        <c:v>877</c:v>
                      </c:pt>
                      <c:pt idx="13">
                        <c:v>1223</c:v>
                      </c:pt>
                      <c:pt idx="14">
                        <c:v>1273</c:v>
                      </c:pt>
                      <c:pt idx="15">
                        <c:v>725</c:v>
                      </c:pt>
                      <c:pt idx="16">
                        <c:v>1488</c:v>
                      </c:pt>
                      <c:pt idx="17">
                        <c:v>1315</c:v>
                      </c:pt>
                      <c:pt idx="18">
                        <c:v>1382</c:v>
                      </c:pt>
                      <c:pt idx="19">
                        <c:v>1569</c:v>
                      </c:pt>
                      <c:pt idx="20">
                        <c:v>879</c:v>
                      </c:pt>
                      <c:pt idx="21">
                        <c:v>1201</c:v>
                      </c:pt>
                      <c:pt idx="22">
                        <c:v>889</c:v>
                      </c:pt>
                      <c:pt idx="23">
                        <c:v>726</c:v>
                      </c:pt>
                      <c:pt idx="24">
                        <c:v>1542</c:v>
                      </c:pt>
                      <c:pt idx="25">
                        <c:v>1181</c:v>
                      </c:pt>
                      <c:pt idx="26">
                        <c:v>1844</c:v>
                      </c:pt>
                      <c:pt idx="27">
                        <c:v>1015</c:v>
                      </c:pt>
                      <c:pt idx="28">
                        <c:v>1899</c:v>
                      </c:pt>
                      <c:pt idx="29">
                        <c:v>1707</c:v>
                      </c:pt>
                      <c:pt idx="30">
                        <c:v>1852</c:v>
                      </c:pt>
                      <c:pt idx="31">
                        <c:v>1847</c:v>
                      </c:pt>
                      <c:pt idx="32">
                        <c:v>1634</c:v>
                      </c:pt>
                      <c:pt idx="33">
                        <c:v>1019</c:v>
                      </c:pt>
                      <c:pt idx="34">
                        <c:v>1968</c:v>
                      </c:pt>
                      <c:pt idx="35">
                        <c:v>2348</c:v>
                      </c:pt>
                      <c:pt idx="36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9F27-41EC-A1C6-0343C4A1B045}"/>
                  </c:ext>
                </c:extLst>
              </c15:ser>
            </c15:filteredBarSeries>
          </c:ext>
        </c:extLst>
      </c:barChart>
      <c:catAx>
        <c:axId val="16809372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tx1">
                <a:lumMod val="15000"/>
                <a:lumOff val="85000"/>
              </a:schemeClr>
            </a:solidFill>
            <a:round/>
            <a:headEnd type="none" w="sm" len="sm"/>
            <a:tailEnd type="none" w="sm" len="sm"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2080"/>
        <c:crosses val="autoZero"/>
        <c:auto val="1"/>
        <c:lblAlgn val="ctr"/>
        <c:lblOffset val="100"/>
        <c:noMultiLvlLbl val="0"/>
      </c:catAx>
      <c:valAx>
        <c:axId val="168094208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9900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15000"/>
                      <a:lumOff val="85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372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[RCB.xlsx]Q7 Objective!PivotTable23</c:name>
    <c:fmtId val="2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/>
              <a:t>Avg_Wickets</a:t>
            </a:r>
          </a:p>
        </c:rich>
      </c:tx>
      <c:layout>
        <c:manualLayout>
          <c:xMode val="edge"/>
          <c:yMode val="edge"/>
          <c:x val="0.32637932456133717"/>
          <c:y val="3.41768466126977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2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0.16349626203350032"/>
          <c:y val="9.8071820318964636E-2"/>
          <c:w val="0.78918904244759114"/>
          <c:h val="0.856297531924746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'Q7 Objective'!$H$21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'Q7 Objective'!$G$22:$G$55</c:f>
              <c:strCache>
                <c:ptCount val="33"/>
                <c:pt idx="0">
                  <c:v>Anureet Singh</c:v>
                </c:pt>
                <c:pt idx="1">
                  <c:v>RP Singh</c:v>
                </c:pt>
                <c:pt idx="2">
                  <c:v>CH Morris</c:v>
                </c:pt>
                <c:pt idx="3">
                  <c:v>YS Chahal</c:v>
                </c:pt>
                <c:pt idx="4">
                  <c:v>A Mishra</c:v>
                </c:pt>
                <c:pt idx="5">
                  <c:v>R Vinay Kumar</c:v>
                </c:pt>
                <c:pt idx="6">
                  <c:v>DS Kulkarni</c:v>
                </c:pt>
                <c:pt idx="7">
                  <c:v>SR Watson</c:v>
                </c:pt>
                <c:pt idx="8">
                  <c:v>Sandeep Sharma</c:v>
                </c:pt>
                <c:pt idx="9">
                  <c:v>S Aravind</c:v>
                </c:pt>
                <c:pt idx="10">
                  <c:v>MG Johnson</c:v>
                </c:pt>
                <c:pt idx="11">
                  <c:v>NLTC Perera</c:v>
                </c:pt>
                <c:pt idx="12">
                  <c:v>B Kumar</c:v>
                </c:pt>
                <c:pt idx="13">
                  <c:v>Iqbal Abdulla</c:v>
                </c:pt>
                <c:pt idx="14">
                  <c:v>TG Southee</c:v>
                </c:pt>
                <c:pt idx="15">
                  <c:v>MJ McClenaghan</c:v>
                </c:pt>
                <c:pt idx="16">
                  <c:v>VR Aaron</c:v>
                </c:pt>
                <c:pt idx="17">
                  <c:v>SL Malinga</c:v>
                </c:pt>
                <c:pt idx="18">
                  <c:v>AD Russell</c:v>
                </c:pt>
                <c:pt idx="19">
                  <c:v>SP Narine</c:v>
                </c:pt>
                <c:pt idx="20">
                  <c:v>KK Cooper</c:v>
                </c:pt>
                <c:pt idx="21">
                  <c:v>MM Sharma</c:v>
                </c:pt>
                <c:pt idx="22">
                  <c:v>AB Dinda</c:v>
                </c:pt>
                <c:pt idx="23">
                  <c:v>JP Faulkner</c:v>
                </c:pt>
                <c:pt idx="24">
                  <c:v>NM Coulter-Nile</c:v>
                </c:pt>
                <c:pt idx="25">
                  <c:v>RA Jadeja</c:v>
                </c:pt>
                <c:pt idx="26">
                  <c:v>DJ Bravo</c:v>
                </c:pt>
                <c:pt idx="27">
                  <c:v>MA Starc</c:v>
                </c:pt>
                <c:pt idx="28">
                  <c:v>A Nehra</c:v>
                </c:pt>
                <c:pt idx="29">
                  <c:v>JJ Bumrah</c:v>
                </c:pt>
                <c:pt idx="30">
                  <c:v>UT Yadav</c:v>
                </c:pt>
                <c:pt idx="31">
                  <c:v>JD Unadkat</c:v>
                </c:pt>
                <c:pt idx="32">
                  <c:v>Imran Tahir</c:v>
                </c:pt>
              </c:strCache>
            </c:strRef>
          </c:cat>
          <c:val>
            <c:numRef>
              <c:f>'Q7 Objective'!$H$22:$H$55</c:f>
              <c:numCache>
                <c:formatCode>General</c:formatCode>
                <c:ptCount val="33"/>
                <c:pt idx="0">
                  <c:v>1.7</c:v>
                </c:pt>
                <c:pt idx="1">
                  <c:v>1.7</c:v>
                </c:pt>
                <c:pt idx="2">
                  <c:v>1.71</c:v>
                </c:pt>
                <c:pt idx="3">
                  <c:v>1.71</c:v>
                </c:pt>
                <c:pt idx="4">
                  <c:v>1.72</c:v>
                </c:pt>
                <c:pt idx="5">
                  <c:v>1.72</c:v>
                </c:pt>
                <c:pt idx="6">
                  <c:v>1.74</c:v>
                </c:pt>
                <c:pt idx="7">
                  <c:v>1.74</c:v>
                </c:pt>
                <c:pt idx="8">
                  <c:v>1.74</c:v>
                </c:pt>
                <c:pt idx="9">
                  <c:v>1.75</c:v>
                </c:pt>
                <c:pt idx="10">
                  <c:v>1.77</c:v>
                </c:pt>
                <c:pt idx="11">
                  <c:v>1.78</c:v>
                </c:pt>
                <c:pt idx="12">
                  <c:v>1.79</c:v>
                </c:pt>
                <c:pt idx="13">
                  <c:v>1.8</c:v>
                </c:pt>
                <c:pt idx="14">
                  <c:v>1.8</c:v>
                </c:pt>
                <c:pt idx="15">
                  <c:v>1.8</c:v>
                </c:pt>
                <c:pt idx="16">
                  <c:v>1.83</c:v>
                </c:pt>
                <c:pt idx="17">
                  <c:v>1.83</c:v>
                </c:pt>
                <c:pt idx="18">
                  <c:v>1.84</c:v>
                </c:pt>
                <c:pt idx="19">
                  <c:v>1.84</c:v>
                </c:pt>
                <c:pt idx="20">
                  <c:v>1.86</c:v>
                </c:pt>
                <c:pt idx="21">
                  <c:v>1.86</c:v>
                </c:pt>
                <c:pt idx="22">
                  <c:v>1.89</c:v>
                </c:pt>
                <c:pt idx="23">
                  <c:v>1.91</c:v>
                </c:pt>
                <c:pt idx="24">
                  <c:v>1.92</c:v>
                </c:pt>
                <c:pt idx="25">
                  <c:v>1.93</c:v>
                </c:pt>
                <c:pt idx="26">
                  <c:v>1.93</c:v>
                </c:pt>
                <c:pt idx="27">
                  <c:v>1.95</c:v>
                </c:pt>
                <c:pt idx="28">
                  <c:v>1.97</c:v>
                </c:pt>
                <c:pt idx="29">
                  <c:v>2</c:v>
                </c:pt>
                <c:pt idx="30">
                  <c:v>2</c:v>
                </c:pt>
                <c:pt idx="31">
                  <c:v>2.09</c:v>
                </c:pt>
                <c:pt idx="32">
                  <c:v>2.21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755-4093-A06F-614188EB9C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37067632"/>
        <c:axId val="1537069072"/>
      </c:barChart>
      <c:catAx>
        <c:axId val="1537067632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9072"/>
        <c:crosses val="autoZero"/>
        <c:auto val="1"/>
        <c:lblAlgn val="ctr"/>
        <c:lblOffset val="100"/>
        <c:noMultiLvlLbl val="0"/>
      </c:catAx>
      <c:valAx>
        <c:axId val="15370690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370676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All-Rounders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Average Runs per Match</a:t>
            </a:r>
            <a:endParaRPr lang="en-US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'Q8 Objective'!$B$1</c:f>
              <c:strCache>
                <c:ptCount val="1"/>
                <c:pt idx="0">
                  <c:v>avg_runs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Objective'!$A$2:$A$23</c:f>
              <c:strCache>
                <c:ptCount val="22"/>
                <c:pt idx="0">
                  <c:v>CH Gayle</c:v>
                </c:pt>
                <c:pt idx="1">
                  <c:v>KH Pandya</c:v>
                </c:pt>
                <c:pt idx="2">
                  <c:v>MP Stoinis</c:v>
                </c:pt>
                <c:pt idx="3">
                  <c:v>JP Duminy</c:v>
                </c:pt>
                <c:pt idx="4">
                  <c:v>SR Watson</c:v>
                </c:pt>
                <c:pt idx="5">
                  <c:v>DJ Hussey</c:v>
                </c:pt>
                <c:pt idx="6">
                  <c:v>AD Russell</c:v>
                </c:pt>
                <c:pt idx="7">
                  <c:v>JH Kallis</c:v>
                </c:pt>
                <c:pt idx="8">
                  <c:v>MC Henriques</c:v>
                </c:pt>
                <c:pt idx="9">
                  <c:v>Azhar Mahmood</c:v>
                </c:pt>
                <c:pt idx="10">
                  <c:v>RS Bopara</c:v>
                </c:pt>
                <c:pt idx="11">
                  <c:v>MR Marsh</c:v>
                </c:pt>
                <c:pt idx="12">
                  <c:v>R Tewatia</c:v>
                </c:pt>
                <c:pt idx="13">
                  <c:v>D Wiese</c:v>
                </c:pt>
                <c:pt idx="14">
                  <c:v>NLTC Perera</c:v>
                </c:pt>
                <c:pt idx="15">
                  <c:v>DJG Sammy</c:v>
                </c:pt>
                <c:pt idx="16">
                  <c:v>BCJ Cutting</c:v>
                </c:pt>
                <c:pt idx="17">
                  <c:v>CH Morris</c:v>
                </c:pt>
                <c:pt idx="18">
                  <c:v>CR Brathwaite</c:v>
                </c:pt>
                <c:pt idx="19">
                  <c:v>RA Jadeja</c:v>
                </c:pt>
                <c:pt idx="20">
                  <c:v>AR Patel</c:v>
                </c:pt>
                <c:pt idx="21">
                  <c:v>Gurkeerat Singh</c:v>
                </c:pt>
              </c:strCache>
            </c:strRef>
          </c:cat>
          <c:val>
            <c:numRef>
              <c:f>'Q8 Objective'!$B$2:$B$23</c:f>
              <c:numCache>
                <c:formatCode>General</c:formatCode>
                <c:ptCount val="22"/>
                <c:pt idx="0">
                  <c:v>33.35</c:v>
                </c:pt>
                <c:pt idx="1">
                  <c:v>29.63</c:v>
                </c:pt>
                <c:pt idx="2">
                  <c:v>29.2</c:v>
                </c:pt>
                <c:pt idx="3">
                  <c:v>29</c:v>
                </c:pt>
                <c:pt idx="4">
                  <c:v>24.81</c:v>
                </c:pt>
                <c:pt idx="5">
                  <c:v>23.4</c:v>
                </c:pt>
                <c:pt idx="6">
                  <c:v>22.91</c:v>
                </c:pt>
                <c:pt idx="7">
                  <c:v>21</c:v>
                </c:pt>
                <c:pt idx="8">
                  <c:v>18.37</c:v>
                </c:pt>
                <c:pt idx="9">
                  <c:v>18.36</c:v>
                </c:pt>
                <c:pt idx="10">
                  <c:v>18.13</c:v>
                </c:pt>
                <c:pt idx="11">
                  <c:v>16.329999999999998</c:v>
                </c:pt>
                <c:pt idx="12">
                  <c:v>16</c:v>
                </c:pt>
                <c:pt idx="13">
                  <c:v>15.88</c:v>
                </c:pt>
                <c:pt idx="14">
                  <c:v>15.27</c:v>
                </c:pt>
                <c:pt idx="15">
                  <c:v>14.75</c:v>
                </c:pt>
                <c:pt idx="16">
                  <c:v>14.6</c:v>
                </c:pt>
                <c:pt idx="17">
                  <c:v>14.25</c:v>
                </c:pt>
                <c:pt idx="18">
                  <c:v>13.83</c:v>
                </c:pt>
                <c:pt idx="19">
                  <c:v>13.4</c:v>
                </c:pt>
                <c:pt idx="20">
                  <c:v>13.07</c:v>
                </c:pt>
                <c:pt idx="21">
                  <c:v>12.8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9E5-4E9B-B906-41D86FBC55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gapDepth val="0"/>
        <c:shape val="box"/>
        <c:axId val="1483845232"/>
        <c:axId val="1483846192"/>
        <c:axId val="0"/>
      </c:bar3DChart>
      <c:catAx>
        <c:axId val="14838452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6192"/>
        <c:crosses val="autoZero"/>
        <c:auto val="1"/>
        <c:lblAlgn val="ctr"/>
        <c:lblOffset val="100"/>
        <c:noMultiLvlLbl val="0"/>
      </c:catAx>
      <c:valAx>
        <c:axId val="148384619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4838452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All-Rounders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Average Wickets per Match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1"/>
          <c:order val="1"/>
          <c:tx>
            <c:strRef>
              <c:f>'Q8 Objective'!$C$29</c:f>
              <c:strCache>
                <c:ptCount val="1"/>
                <c:pt idx="0">
                  <c:v>avg_wickets</c:v>
                </c:pt>
              </c:strCache>
            </c:strRef>
          </c:tx>
          <c:spPr>
            <a:solidFill>
              <a:srgbClr val="CC0000"/>
            </a:solidFill>
            <a:ln>
              <a:noFill/>
            </a:ln>
            <a:effectLst/>
            <a:sp3d/>
          </c:spPr>
          <c:invertIfNegative val="0"/>
          <c:cat>
            <c:strRef>
              <c:f>'Q8 Objective'!$A$30:$A$51</c:f>
              <c:strCache>
                <c:ptCount val="22"/>
                <c:pt idx="0">
                  <c:v>DJG Sammy</c:v>
                </c:pt>
                <c:pt idx="1">
                  <c:v>MP Stoinis</c:v>
                </c:pt>
                <c:pt idx="2">
                  <c:v>Azhar Mahmood</c:v>
                </c:pt>
                <c:pt idx="3">
                  <c:v>DJ Hussey</c:v>
                </c:pt>
                <c:pt idx="4">
                  <c:v>RA Jadeja</c:v>
                </c:pt>
                <c:pt idx="5">
                  <c:v>D Wiese</c:v>
                </c:pt>
                <c:pt idx="6">
                  <c:v>AD Russell</c:v>
                </c:pt>
                <c:pt idx="7">
                  <c:v>CR Brathwaite</c:v>
                </c:pt>
                <c:pt idx="8">
                  <c:v>NLTC Perera</c:v>
                </c:pt>
                <c:pt idx="9">
                  <c:v>KH Pandya</c:v>
                </c:pt>
                <c:pt idx="10">
                  <c:v>BCJ Cutting</c:v>
                </c:pt>
                <c:pt idx="11">
                  <c:v>SR Watson</c:v>
                </c:pt>
                <c:pt idx="12">
                  <c:v>CH Morris</c:v>
                </c:pt>
                <c:pt idx="13">
                  <c:v>CH Gayle</c:v>
                </c:pt>
                <c:pt idx="14">
                  <c:v>R Tewatia</c:v>
                </c:pt>
                <c:pt idx="15">
                  <c:v>Gurkeerat Singh</c:v>
                </c:pt>
                <c:pt idx="16">
                  <c:v>JH Kallis</c:v>
                </c:pt>
                <c:pt idx="17">
                  <c:v>JP Duminy</c:v>
                </c:pt>
                <c:pt idx="18">
                  <c:v>RS Bopara</c:v>
                </c:pt>
                <c:pt idx="19">
                  <c:v>MR Marsh</c:v>
                </c:pt>
                <c:pt idx="20">
                  <c:v>MC Henriques</c:v>
                </c:pt>
                <c:pt idx="21">
                  <c:v>AR Patel</c:v>
                </c:pt>
              </c:strCache>
            </c:strRef>
          </c:cat>
          <c:val>
            <c:numRef>
              <c:f>'Q8 Objective'!$C$30:$C$51</c:f>
              <c:numCache>
                <c:formatCode>General</c:formatCode>
                <c:ptCount val="22"/>
                <c:pt idx="0">
                  <c:v>2.33</c:v>
                </c:pt>
                <c:pt idx="1">
                  <c:v>2.25</c:v>
                </c:pt>
                <c:pt idx="2">
                  <c:v>2.13</c:v>
                </c:pt>
                <c:pt idx="3">
                  <c:v>2</c:v>
                </c:pt>
                <c:pt idx="4">
                  <c:v>1.93</c:v>
                </c:pt>
                <c:pt idx="5">
                  <c:v>1.89</c:v>
                </c:pt>
                <c:pt idx="6">
                  <c:v>1.84</c:v>
                </c:pt>
                <c:pt idx="7">
                  <c:v>1.8</c:v>
                </c:pt>
                <c:pt idx="8">
                  <c:v>1.78</c:v>
                </c:pt>
                <c:pt idx="9">
                  <c:v>1.75</c:v>
                </c:pt>
                <c:pt idx="10">
                  <c:v>1.75</c:v>
                </c:pt>
                <c:pt idx="11">
                  <c:v>1.74</c:v>
                </c:pt>
                <c:pt idx="12">
                  <c:v>1.71</c:v>
                </c:pt>
                <c:pt idx="13">
                  <c:v>1.67</c:v>
                </c:pt>
                <c:pt idx="14">
                  <c:v>1.67</c:v>
                </c:pt>
                <c:pt idx="15">
                  <c:v>1.67</c:v>
                </c:pt>
                <c:pt idx="16">
                  <c:v>1.64</c:v>
                </c:pt>
                <c:pt idx="17">
                  <c:v>1.63</c:v>
                </c:pt>
                <c:pt idx="18">
                  <c:v>1.6</c:v>
                </c:pt>
                <c:pt idx="19">
                  <c:v>1.57</c:v>
                </c:pt>
                <c:pt idx="20">
                  <c:v>1.54</c:v>
                </c:pt>
                <c:pt idx="21">
                  <c:v>1.53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698-4D1A-A052-A3510AE5085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710670128"/>
        <c:axId val="1710670608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'Q8 Objective'!$B$29</c15:sqref>
                        </c15:formulaRef>
                      </c:ext>
                    </c:extLst>
                    <c:strCache>
                      <c:ptCount val="1"/>
                      <c:pt idx="0">
                        <c:v>avg_runs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  <a:sp3d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'Q8 Objective'!$A$30:$A$51</c15:sqref>
                        </c15:formulaRef>
                      </c:ext>
                    </c:extLst>
                    <c:strCache>
                      <c:ptCount val="22"/>
                      <c:pt idx="0">
                        <c:v>DJG Sammy</c:v>
                      </c:pt>
                      <c:pt idx="1">
                        <c:v>MP Stoinis</c:v>
                      </c:pt>
                      <c:pt idx="2">
                        <c:v>Azhar Mahmood</c:v>
                      </c:pt>
                      <c:pt idx="3">
                        <c:v>DJ Hussey</c:v>
                      </c:pt>
                      <c:pt idx="4">
                        <c:v>RA Jadeja</c:v>
                      </c:pt>
                      <c:pt idx="5">
                        <c:v>D Wiese</c:v>
                      </c:pt>
                      <c:pt idx="6">
                        <c:v>AD Russell</c:v>
                      </c:pt>
                      <c:pt idx="7">
                        <c:v>CR Brathwaite</c:v>
                      </c:pt>
                      <c:pt idx="8">
                        <c:v>NLTC Perera</c:v>
                      </c:pt>
                      <c:pt idx="9">
                        <c:v>KH Pandya</c:v>
                      </c:pt>
                      <c:pt idx="10">
                        <c:v>BCJ Cutting</c:v>
                      </c:pt>
                      <c:pt idx="11">
                        <c:v>SR Watson</c:v>
                      </c:pt>
                      <c:pt idx="12">
                        <c:v>CH Morris</c:v>
                      </c:pt>
                      <c:pt idx="13">
                        <c:v>CH Gayle</c:v>
                      </c:pt>
                      <c:pt idx="14">
                        <c:v>R Tewatia</c:v>
                      </c:pt>
                      <c:pt idx="15">
                        <c:v>Gurkeerat Singh</c:v>
                      </c:pt>
                      <c:pt idx="16">
                        <c:v>JH Kallis</c:v>
                      </c:pt>
                      <c:pt idx="17">
                        <c:v>JP Duminy</c:v>
                      </c:pt>
                      <c:pt idx="18">
                        <c:v>RS Bopara</c:v>
                      </c:pt>
                      <c:pt idx="19">
                        <c:v>MR Marsh</c:v>
                      </c:pt>
                      <c:pt idx="20">
                        <c:v>MC Henriques</c:v>
                      </c:pt>
                      <c:pt idx="21">
                        <c:v>AR Patel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'Q8 Objective'!$B$30:$B$51</c15:sqref>
                        </c15:formulaRef>
                      </c:ext>
                    </c:extLst>
                    <c:numCache>
                      <c:formatCode>General</c:formatCode>
                      <c:ptCount val="22"/>
                      <c:pt idx="0">
                        <c:v>14.75</c:v>
                      </c:pt>
                      <c:pt idx="1">
                        <c:v>29.2</c:v>
                      </c:pt>
                      <c:pt idx="2">
                        <c:v>18.36</c:v>
                      </c:pt>
                      <c:pt idx="3">
                        <c:v>23.4</c:v>
                      </c:pt>
                      <c:pt idx="4">
                        <c:v>13.4</c:v>
                      </c:pt>
                      <c:pt idx="5">
                        <c:v>15.88</c:v>
                      </c:pt>
                      <c:pt idx="6">
                        <c:v>22.91</c:v>
                      </c:pt>
                      <c:pt idx="7">
                        <c:v>13.83</c:v>
                      </c:pt>
                      <c:pt idx="8">
                        <c:v>15.27</c:v>
                      </c:pt>
                      <c:pt idx="9">
                        <c:v>29.63</c:v>
                      </c:pt>
                      <c:pt idx="10">
                        <c:v>14.6</c:v>
                      </c:pt>
                      <c:pt idx="11">
                        <c:v>24.81</c:v>
                      </c:pt>
                      <c:pt idx="12">
                        <c:v>14.25</c:v>
                      </c:pt>
                      <c:pt idx="13">
                        <c:v>33.35</c:v>
                      </c:pt>
                      <c:pt idx="14">
                        <c:v>16</c:v>
                      </c:pt>
                      <c:pt idx="15">
                        <c:v>12.8</c:v>
                      </c:pt>
                      <c:pt idx="16">
                        <c:v>21</c:v>
                      </c:pt>
                      <c:pt idx="17">
                        <c:v>29</c:v>
                      </c:pt>
                      <c:pt idx="18">
                        <c:v>18.13</c:v>
                      </c:pt>
                      <c:pt idx="19">
                        <c:v>16.329999999999998</c:v>
                      </c:pt>
                      <c:pt idx="20">
                        <c:v>18.37</c:v>
                      </c:pt>
                      <c:pt idx="21">
                        <c:v>13.07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8698-4D1A-A052-A3510AE50859}"/>
                  </c:ext>
                </c:extLst>
              </c15:ser>
            </c15:filteredBarSeries>
          </c:ext>
        </c:extLst>
      </c:bar3DChart>
      <c:catAx>
        <c:axId val="1710670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608"/>
        <c:crosses val="autoZero"/>
        <c:auto val="1"/>
        <c:lblAlgn val="ctr"/>
        <c:lblOffset val="100"/>
        <c:noMultiLvlLbl val="0"/>
      </c:catAx>
      <c:valAx>
        <c:axId val="1710670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710670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1" i="0" u="none" strike="noStrike" baseline="0"/>
              <a:t>Win Percentage by Venue</a:t>
            </a:r>
            <a:r>
              <a:rPr lang="en-IN" sz="1800" b="1" i="0" u="none" strike="noStrike" kern="1200" baseline="0">
                <a:solidFill>
                  <a:sysClr val="windowText" lastClr="000000">
                    <a:lumMod val="75000"/>
                    <a:lumOff val="2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endParaRPr lang="en-IN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47415202113662863"/>
          <c:y val="0.12714647443504729"/>
          <c:w val="0.50137273988183739"/>
          <c:h val="0.73351836103779311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'Q9 Objective'!$B$1</c:f>
              <c:strCache>
                <c:ptCount val="1"/>
                <c:pt idx="0">
                  <c:v>total_matches</c:v>
                </c:pt>
              </c:strCache>
            </c:strRef>
          </c:tx>
          <c:spPr>
            <a:solidFill>
              <a:schemeClr val="accent2">
                <a:lumMod val="40000"/>
                <a:lumOff val="60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Objective'!$B$2:$B$19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3</c:v>
                </c:pt>
                <c:pt idx="3">
                  <c:v>29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15-46A5-A84F-D158CE9C7ED3}"/>
            </c:ext>
          </c:extLst>
        </c:ser>
        <c:ser>
          <c:idx val="4"/>
          <c:order val="4"/>
          <c:tx>
            <c:strRef>
              <c:f>'Q9 Objective'!$F$1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'Q9 Objective'!$A$2:$A$19</c:f>
              <c:strCache>
                <c:ptCount val="5"/>
                <c:pt idx="0">
                  <c:v>Rajiv Gandhi International Stadium, Uppal</c:v>
                </c:pt>
                <c:pt idx="1">
                  <c:v>Wankhede Stadium</c:v>
                </c:pt>
                <c:pt idx="2">
                  <c:v>JSCA International Stadium Complex</c:v>
                </c:pt>
                <c:pt idx="3">
                  <c:v>M Chinnaswamy Stadium</c:v>
                </c:pt>
                <c:pt idx="4">
                  <c:v>Eden Gardens</c:v>
                </c:pt>
              </c:strCache>
            </c:strRef>
          </c:cat>
          <c:val>
            <c:numRef>
              <c:f>'Q9 Objective'!$F$2:$F$19</c:f>
              <c:numCache>
                <c:formatCode>General</c:formatCode>
                <c:ptCount val="5"/>
                <c:pt idx="0">
                  <c:v>25</c:v>
                </c:pt>
                <c:pt idx="1">
                  <c:v>25</c:v>
                </c:pt>
                <c:pt idx="2">
                  <c:v>33.33</c:v>
                </c:pt>
                <c:pt idx="3">
                  <c:v>55.17</c:v>
                </c:pt>
                <c:pt idx="4">
                  <c:v>66.67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15-46A5-A84F-D158CE9C7ED3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680946880"/>
        <c:axId val="1680940640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'Q9 Objective'!$C$1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solidFill>
                    <a:schemeClr val="accent4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'Q9 Objective'!$C$2:$C$19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  <c:pt idx="3">
                        <c:v>16</c:v>
                      </c:pt>
                      <c:pt idx="4">
                        <c:v>2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2-3B15-46A5-A84F-D158CE9C7ED3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Objective'!$D$1</c15:sqref>
                        </c15:formulaRef>
                      </c:ext>
                    </c:extLst>
                    <c:strCache>
                      <c:ptCount val="1"/>
                      <c:pt idx="0">
                        <c:v>losses</c:v>
                      </c:pt>
                    </c:strCache>
                  </c:strRef>
                </c:tx>
                <c:spPr>
                  <a:solidFill>
                    <a:schemeClr val="accent6"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Objective'!$D$2:$D$19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3</c:v>
                      </c:pt>
                      <c:pt idx="1">
                        <c:v>3</c:v>
                      </c:pt>
                      <c:pt idx="2">
                        <c:v>2</c:v>
                      </c:pt>
                      <c:pt idx="3">
                        <c:v>11</c:v>
                      </c:pt>
                      <c:pt idx="4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3B15-46A5-A84F-D158CE9C7ED3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Objective'!$E$1</c15:sqref>
                        </c15:formulaRef>
                      </c:ext>
                    </c:extLst>
                    <c:strCache>
                      <c:ptCount val="1"/>
                      <c:pt idx="0">
                        <c:v>No_Result</c:v>
                      </c:pt>
                    </c:strCache>
                  </c:strRef>
                </c:tx>
                <c:spPr>
                  <a:solidFill>
                    <a:schemeClr val="accent2">
                      <a:lumMod val="60000"/>
                      <a:alpha val="85000"/>
                    </a:schemeClr>
                  </a:solidFill>
                  <a:ln w="9525" cap="flat" cmpd="sng" algn="ctr">
                    <a:solidFill>
                      <a:schemeClr val="lt1">
                        <a:alpha val="50000"/>
                      </a:schemeClr>
                    </a:solidFill>
                    <a:round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50000"/>
                                <a:lumOff val="50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Objective'!$A$2:$A$19</c15:sqref>
                        </c15:formulaRef>
                      </c:ext>
                    </c:extLst>
                    <c:strCache>
                      <c:ptCount val="5"/>
                      <c:pt idx="0">
                        <c:v>Rajiv Gandhi International Stadium, Uppal</c:v>
                      </c:pt>
                      <c:pt idx="1">
                        <c:v>Wankhede Stadium</c:v>
                      </c:pt>
                      <c:pt idx="2">
                        <c:v>JSCA International Stadium Complex</c:v>
                      </c:pt>
                      <c:pt idx="3">
                        <c:v>M Chinnaswamy Stadium</c:v>
                      </c:pt>
                      <c:pt idx="4">
                        <c:v>Eden Gardens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'Q9 Objective'!$E$2:$E$19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0</c:v>
                      </c:pt>
                      <c:pt idx="1">
                        <c:v>0</c:v>
                      </c:pt>
                      <c:pt idx="2">
                        <c:v>0</c:v>
                      </c:pt>
                      <c:pt idx="3">
                        <c:v>2</c:v>
                      </c:pt>
                      <c:pt idx="4">
                        <c:v>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3B15-46A5-A84F-D158CE9C7ED3}"/>
                  </c:ext>
                </c:extLst>
              </c15:ser>
            </c15:filteredBarSeries>
          </c:ext>
        </c:extLst>
      </c:barChart>
      <c:catAx>
        <c:axId val="168094688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1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0640"/>
        <c:crosses val="autoZero"/>
        <c:auto val="1"/>
        <c:lblAlgn val="ctr"/>
        <c:lblOffset val="100"/>
        <c:noMultiLvlLbl val="0"/>
      </c:catAx>
      <c:valAx>
        <c:axId val="1680940640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09468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800" b="0" i="0" u="none" strike="noStrike" baseline="0"/>
              <a:t>Impact of Bowling Style on Wickets Taken</a:t>
            </a:r>
            <a:endParaRPr lang="en-IN" sz="18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'Q10 Objective'!$C$1</c:f>
              <c:strCache>
                <c:ptCount val="1"/>
                <c:pt idx="0">
                  <c:v>Total_Wickets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'Q10 Objective'!$A$2:$A$14</c:f>
              <c:strCache>
                <c:ptCount val="13"/>
                <c:pt idx="0">
                  <c:v>Right-arm medium</c:v>
                </c:pt>
                <c:pt idx="1">
                  <c:v>Right-arm fast-medium</c:v>
                </c:pt>
                <c:pt idx="2">
                  <c:v>Right-arm medium-fast</c:v>
                </c:pt>
                <c:pt idx="3">
                  <c:v>Right-arm offbreak</c:v>
                </c:pt>
                <c:pt idx="4">
                  <c:v>Slow left-arm orthodox</c:v>
                </c:pt>
                <c:pt idx="5">
                  <c:v>Right-arm fast</c:v>
                </c:pt>
                <c:pt idx="6">
                  <c:v>Left-arm fast-medium</c:v>
                </c:pt>
                <c:pt idx="7">
                  <c:v>Legbreak googly</c:v>
                </c:pt>
                <c:pt idx="8">
                  <c:v>Legbreak</c:v>
                </c:pt>
                <c:pt idx="9">
                  <c:v>Left-arm medium-fast</c:v>
                </c:pt>
                <c:pt idx="10">
                  <c:v>Left-arm fast</c:v>
                </c:pt>
                <c:pt idx="11">
                  <c:v>Left-arm medium</c:v>
                </c:pt>
                <c:pt idx="12">
                  <c:v>Slow left-arm chinaman</c:v>
                </c:pt>
              </c:strCache>
            </c:strRef>
          </c:cat>
          <c:val>
            <c:numRef>
              <c:f>'Q10 Objective'!$C$2:$C$14</c:f>
              <c:numCache>
                <c:formatCode>General</c:formatCode>
                <c:ptCount val="13"/>
                <c:pt idx="0">
                  <c:v>617</c:v>
                </c:pt>
                <c:pt idx="1">
                  <c:v>382</c:v>
                </c:pt>
                <c:pt idx="2">
                  <c:v>343</c:v>
                </c:pt>
                <c:pt idx="3">
                  <c:v>290</c:v>
                </c:pt>
                <c:pt idx="4">
                  <c:v>283</c:v>
                </c:pt>
                <c:pt idx="5">
                  <c:v>237</c:v>
                </c:pt>
                <c:pt idx="6">
                  <c:v>186</c:v>
                </c:pt>
                <c:pt idx="7">
                  <c:v>167</c:v>
                </c:pt>
                <c:pt idx="8">
                  <c:v>152</c:v>
                </c:pt>
                <c:pt idx="9">
                  <c:v>114</c:v>
                </c:pt>
                <c:pt idx="10">
                  <c:v>99</c:v>
                </c:pt>
                <c:pt idx="11">
                  <c:v>42</c:v>
                </c:pt>
                <c:pt idx="12">
                  <c:v>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50-4BB4-90A5-FAD46A4C921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93078128"/>
        <c:axId val="1693085808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'Q10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Total_Bowlers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'Q10 Objective'!$B$2:$B$14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35</c:v>
                      </c:pt>
                      <c:pt idx="1">
                        <c:v>22</c:v>
                      </c:pt>
                      <c:pt idx="2">
                        <c:v>20</c:v>
                      </c:pt>
                      <c:pt idx="3">
                        <c:v>26</c:v>
                      </c:pt>
                      <c:pt idx="4">
                        <c:v>21</c:v>
                      </c:pt>
                      <c:pt idx="5">
                        <c:v>12</c:v>
                      </c:pt>
                      <c:pt idx="6">
                        <c:v>7</c:v>
                      </c:pt>
                      <c:pt idx="7">
                        <c:v>8</c:v>
                      </c:pt>
                      <c:pt idx="8">
                        <c:v>9</c:v>
                      </c:pt>
                      <c:pt idx="9">
                        <c:v>5</c:v>
                      </c:pt>
                      <c:pt idx="10">
                        <c:v>3</c:v>
                      </c:pt>
                      <c:pt idx="11">
                        <c:v>4</c:v>
                      </c:pt>
                      <c:pt idx="12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850-4BB4-90A5-FAD46A4C9216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Objective'!$D$1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Objective'!$D$2:$D$14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205</c:v>
                      </c:pt>
                      <c:pt idx="1">
                        <c:v>159</c:v>
                      </c:pt>
                      <c:pt idx="2">
                        <c:v>145</c:v>
                      </c:pt>
                      <c:pt idx="3">
                        <c:v>151</c:v>
                      </c:pt>
                      <c:pt idx="4">
                        <c:v>150</c:v>
                      </c:pt>
                      <c:pt idx="5">
                        <c:v>112</c:v>
                      </c:pt>
                      <c:pt idx="6">
                        <c:v>99</c:v>
                      </c:pt>
                      <c:pt idx="7">
                        <c:v>88</c:v>
                      </c:pt>
                      <c:pt idx="8">
                        <c:v>87</c:v>
                      </c:pt>
                      <c:pt idx="9">
                        <c:v>58</c:v>
                      </c:pt>
                      <c:pt idx="10">
                        <c:v>52</c:v>
                      </c:pt>
                      <c:pt idx="11">
                        <c:v>25</c:v>
                      </c:pt>
                      <c:pt idx="12">
                        <c:v>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850-4BB4-90A5-FAD46A4C9216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Objective'!$E$1</c15:sqref>
                        </c15:formulaRef>
                      </c:ext>
                    </c:extLst>
                    <c:strCache>
                      <c:ptCount val="1"/>
                      <c:pt idx="0">
                        <c:v>Avg_Wickets_Per_Match</c:v>
                      </c:pt>
                    </c:strCache>
                  </c:strRef>
                </c:tx>
                <c:spPr>
                  <a:solidFill>
                    <a:schemeClr val="accent4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Objective'!$A$2:$A$14</c15:sqref>
                        </c15:formulaRef>
                      </c:ext>
                    </c:extLst>
                    <c:strCache>
                      <c:ptCount val="13"/>
                      <c:pt idx="0">
                        <c:v>Right-arm medium</c:v>
                      </c:pt>
                      <c:pt idx="1">
                        <c:v>Right-arm fast-medium</c:v>
                      </c:pt>
                      <c:pt idx="2">
                        <c:v>Right-arm medium-fast</c:v>
                      </c:pt>
                      <c:pt idx="3">
                        <c:v>Right-arm offbreak</c:v>
                      </c:pt>
                      <c:pt idx="4">
                        <c:v>Slow left-arm orthodox</c:v>
                      </c:pt>
                      <c:pt idx="5">
                        <c:v>Right-arm fast</c:v>
                      </c:pt>
                      <c:pt idx="6">
                        <c:v>Left-arm fast-medium</c:v>
                      </c:pt>
                      <c:pt idx="7">
                        <c:v>Legbreak googly</c:v>
                      </c:pt>
                      <c:pt idx="8">
                        <c:v>Legbreak</c:v>
                      </c:pt>
                      <c:pt idx="9">
                        <c:v>Left-arm medium-fast</c:v>
                      </c:pt>
                      <c:pt idx="10">
                        <c:v>Left-arm fast</c:v>
                      </c:pt>
                      <c:pt idx="11">
                        <c:v>Left-arm medium</c:v>
                      </c:pt>
                      <c:pt idx="12">
                        <c:v>Slow left-arm chinaman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'Q10 Objective'!$E$2:$E$14</c15:sqref>
                        </c15:formulaRef>
                      </c:ext>
                    </c:extLst>
                    <c:numCache>
                      <c:formatCode>General</c:formatCode>
                      <c:ptCount val="13"/>
                      <c:pt idx="0">
                        <c:v>3.01</c:v>
                      </c:pt>
                      <c:pt idx="1">
                        <c:v>2.4</c:v>
                      </c:pt>
                      <c:pt idx="2">
                        <c:v>2.37</c:v>
                      </c:pt>
                      <c:pt idx="3">
                        <c:v>1.92</c:v>
                      </c:pt>
                      <c:pt idx="4">
                        <c:v>1.89</c:v>
                      </c:pt>
                      <c:pt idx="5">
                        <c:v>2.12</c:v>
                      </c:pt>
                      <c:pt idx="6">
                        <c:v>1.88</c:v>
                      </c:pt>
                      <c:pt idx="7">
                        <c:v>1.9</c:v>
                      </c:pt>
                      <c:pt idx="8">
                        <c:v>1.75</c:v>
                      </c:pt>
                      <c:pt idx="9">
                        <c:v>1.97</c:v>
                      </c:pt>
                      <c:pt idx="10">
                        <c:v>1.9</c:v>
                      </c:pt>
                      <c:pt idx="11">
                        <c:v>1.68</c:v>
                      </c:pt>
                      <c:pt idx="12">
                        <c:v>1.94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5850-4BB4-90A5-FAD46A4C9216}"/>
                  </c:ext>
                </c:extLst>
              </c15:ser>
            </c15:filteredBarSeries>
          </c:ext>
        </c:extLst>
      </c:barChart>
      <c:catAx>
        <c:axId val="169307812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5808"/>
        <c:crosses val="autoZero"/>
        <c:auto val="1"/>
        <c:lblAlgn val="ctr"/>
        <c:lblOffset val="100"/>
        <c:noMultiLvlLbl val="0"/>
      </c:catAx>
      <c:valAx>
        <c:axId val="16930858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781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[RCB.xlsx]Q11 Objective!PivotTable56</c:name>
    <c:fmtId val="13"/>
  </c:pivotSource>
  <c:chart>
    <c:title>
      <c:tx>
        <c:rich>
          <a:bodyPr/>
          <a:lstStyle/>
          <a:p>
            <a:pPr>
              <a:defRPr sz="1600"/>
            </a:pPr>
            <a:r>
              <a:rPr lang="en-IN" sz="1600" b="0" i="0" u="none" strike="noStrike" baseline="0"/>
              <a:t>RCB Year-on-Year Performance </a:t>
            </a:r>
            <a:r>
              <a:rPr lang="en-IN" sz="1600" b="0" i="0" u="none" strike="noStrike" kern="1200" baseline="0">
                <a:solidFill>
                  <a:sysClr val="windowText" lastClr="000000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600" b="0" i="0" u="none" strike="noStrike" baseline="0"/>
              <a:t> Runs vs Wickets (2013-2016)</a:t>
            </a:r>
            <a:endParaRPr lang="en-IN" sz="1600" b="0"/>
          </a:p>
        </c:rich>
      </c:tx>
      <c:layout>
        <c:manualLayout>
          <c:xMode val="edge"/>
          <c:yMode val="edge"/>
          <c:x val="0.13803879143910289"/>
          <c:y val="2.1095129065884431E-2"/>
        </c:manualLayout>
      </c:layout>
      <c:overlay val="0"/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'Q11 Objective'!$B$42</c:f>
              <c:strCache>
                <c:ptCount val="1"/>
                <c:pt idx="0">
                  <c:v> Total_runs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Objective'!$B$43:$B$47</c:f>
              <c:numCache>
                <c:formatCode>General</c:formatCode>
                <c:ptCount val="4"/>
                <c:pt idx="0">
                  <c:v>2460</c:v>
                </c:pt>
                <c:pt idx="1">
                  <c:v>1992</c:v>
                </c:pt>
                <c:pt idx="2">
                  <c:v>2190</c:v>
                </c:pt>
                <c:pt idx="3">
                  <c:v>2859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93089648"/>
        <c:axId val="1693090128"/>
      </c:lineChart>
      <c:lineChart>
        <c:grouping val="standard"/>
        <c:varyColors val="0"/>
        <c:ser>
          <c:idx val="1"/>
          <c:order val="1"/>
          <c:tx>
            <c:strRef>
              <c:f>'Q11 Objective'!$C$42</c:f>
              <c:strCache>
                <c:ptCount val="1"/>
                <c:pt idx="0">
                  <c:v> Total_Wickets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'Q11 Objective'!$A$43:$A$47</c:f>
              <c:strCach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strCache>
            </c:strRef>
          </c:cat>
          <c:val>
            <c:numRef>
              <c:f>'Q11 Objective'!$C$43:$C$47</c:f>
              <c:numCache>
                <c:formatCode>General</c:formatCode>
                <c:ptCount val="4"/>
                <c:pt idx="0">
                  <c:v>78</c:v>
                </c:pt>
                <c:pt idx="1">
                  <c:v>82</c:v>
                </c:pt>
                <c:pt idx="2">
                  <c:v>79</c:v>
                </c:pt>
                <c:pt idx="3">
                  <c:v>71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590-42A4-B864-EC5867E191C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68082864"/>
        <c:axId val="1702518912"/>
      </c:lineChart>
      <c:catAx>
        <c:axId val="16930896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90128"/>
        <c:crosses val="autoZero"/>
        <c:auto val="1"/>
        <c:lblAlgn val="ctr"/>
        <c:lblOffset val="100"/>
        <c:noMultiLvlLbl val="0"/>
      </c:catAx>
      <c:valAx>
        <c:axId val="16930901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93089648"/>
        <c:crosses val="autoZero"/>
        <c:crossBetween val="between"/>
      </c:valAx>
      <c:valAx>
        <c:axId val="1702518912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2864"/>
        <c:crosses val="max"/>
        <c:crossBetween val="between"/>
      </c:valAx>
      <c:catAx>
        <c:axId val="156808286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702518912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1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Powerplay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a Objective'!$B$1</c:f>
              <c:strCache>
                <c:ptCount val="1"/>
                <c:pt idx="0">
                  <c:v>Powerplay_run_rate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a Objective'!$A$2:$A$12</c:f>
              <c:strCache>
                <c:ptCount val="11"/>
                <c:pt idx="0">
                  <c:v>Delhi Daredevils</c:v>
                </c:pt>
                <c:pt idx="1">
                  <c:v>Mumbai Indians</c:v>
                </c:pt>
                <c:pt idx="2">
                  <c:v>Rajasthan Royals</c:v>
                </c:pt>
                <c:pt idx="3">
                  <c:v>Pune Warriors</c:v>
                </c:pt>
                <c:pt idx="4">
                  <c:v>Sunrisers Hyderabad</c:v>
                </c:pt>
                <c:pt idx="5">
                  <c:v>Kolkata Knight Riders</c:v>
                </c:pt>
                <c:pt idx="6">
                  <c:v>Royal Challengers Bangalore</c:v>
                </c:pt>
                <c:pt idx="7">
                  <c:v>Rising Pune Supergiants</c:v>
                </c:pt>
                <c:pt idx="8">
                  <c:v>Kings XI Punjab</c:v>
                </c:pt>
                <c:pt idx="9">
                  <c:v>Chennai Super Kings</c:v>
                </c:pt>
                <c:pt idx="10">
                  <c:v>Gujarat Lions</c:v>
                </c:pt>
              </c:strCache>
            </c:strRef>
          </c:cat>
          <c:val>
            <c:numRef>
              <c:f>'Q12 a Objective'!$B$2:$B$12</c:f>
              <c:numCache>
                <c:formatCode>General</c:formatCode>
                <c:ptCount val="11"/>
                <c:pt idx="0">
                  <c:v>6.19</c:v>
                </c:pt>
                <c:pt idx="1">
                  <c:v>6.42</c:v>
                </c:pt>
                <c:pt idx="2">
                  <c:v>6.42</c:v>
                </c:pt>
                <c:pt idx="3">
                  <c:v>6.45</c:v>
                </c:pt>
                <c:pt idx="4">
                  <c:v>6.79</c:v>
                </c:pt>
                <c:pt idx="5">
                  <c:v>6.84</c:v>
                </c:pt>
                <c:pt idx="6">
                  <c:v>6.84</c:v>
                </c:pt>
                <c:pt idx="7">
                  <c:v>7</c:v>
                </c:pt>
                <c:pt idx="8">
                  <c:v>7.03</c:v>
                </c:pt>
                <c:pt idx="9">
                  <c:v>7.22</c:v>
                </c:pt>
                <c:pt idx="10">
                  <c:v>7.49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50-480D-B5A9-0F7787A29C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1105743"/>
        <c:axId val="61104303"/>
      </c:barChart>
      <c:catAx>
        <c:axId val="61105743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4303"/>
        <c:crosses val="autoZero"/>
        <c:auto val="1"/>
        <c:lblAlgn val="ctr"/>
        <c:lblOffset val="100"/>
        <c:noMultiLvlLbl val="0"/>
      </c:catAx>
      <c:valAx>
        <c:axId val="611043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Runs</a:t>
                </a:r>
                <a:r>
                  <a:rPr lang="en-IN" baseline="0"/>
                  <a:t> per over</a:t>
                </a:r>
                <a:endParaRPr lang="en-IN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IN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057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2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Death Over Run Rate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b Objective'!$D$1</c:f>
              <c:strCache>
                <c:ptCount val="1"/>
                <c:pt idx="0">
                  <c:v>Death_Over_Run_Rate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b Objective'!$A$2:$A$12</c:f>
              <c:strCache>
                <c:ptCount val="11"/>
                <c:pt idx="0">
                  <c:v>Pune Warriors</c:v>
                </c:pt>
                <c:pt idx="1">
                  <c:v>Gujarat Lions</c:v>
                </c:pt>
                <c:pt idx="2">
                  <c:v>Delhi Daredevils</c:v>
                </c:pt>
                <c:pt idx="3">
                  <c:v>Sunrisers Hyderabad</c:v>
                </c:pt>
                <c:pt idx="4">
                  <c:v>Kolkata Knight Riders</c:v>
                </c:pt>
                <c:pt idx="5">
                  <c:v>Rajasthan Royals</c:v>
                </c:pt>
                <c:pt idx="6">
                  <c:v>Kings XI Punjab</c:v>
                </c:pt>
                <c:pt idx="7">
                  <c:v>Rising Pune Supergiants</c:v>
                </c:pt>
                <c:pt idx="8">
                  <c:v>Chennai Super Kings</c:v>
                </c:pt>
                <c:pt idx="9">
                  <c:v>Mumbai Indians</c:v>
                </c:pt>
                <c:pt idx="10">
                  <c:v>Royal Challengers Bangalore</c:v>
                </c:pt>
              </c:strCache>
            </c:strRef>
          </c:cat>
          <c:val>
            <c:numRef>
              <c:f>'Q12 b Objective'!$D$2:$D$12</c:f>
              <c:numCache>
                <c:formatCode>General</c:formatCode>
                <c:ptCount val="11"/>
                <c:pt idx="0">
                  <c:v>7.75</c:v>
                </c:pt>
                <c:pt idx="1">
                  <c:v>7.98</c:v>
                </c:pt>
                <c:pt idx="2">
                  <c:v>8.6</c:v>
                </c:pt>
                <c:pt idx="3">
                  <c:v>8.66</c:v>
                </c:pt>
                <c:pt idx="4">
                  <c:v>8.76</c:v>
                </c:pt>
                <c:pt idx="5">
                  <c:v>8.98</c:v>
                </c:pt>
                <c:pt idx="6">
                  <c:v>9.02</c:v>
                </c:pt>
                <c:pt idx="7">
                  <c:v>9.3000000000000007</c:v>
                </c:pt>
                <c:pt idx="8">
                  <c:v>9.5</c:v>
                </c:pt>
                <c:pt idx="9">
                  <c:v>9.56</c:v>
                </c:pt>
                <c:pt idx="10">
                  <c:v>10.39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00-4E52-BF31-58094EBDB5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68081424"/>
        <c:axId val="1681927696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b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b Objective'!$B$2:$B$12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602</c:v>
                      </c:pt>
                      <c:pt idx="1">
                        <c:v>545</c:v>
                      </c:pt>
                      <c:pt idx="2">
                        <c:v>2237</c:v>
                      </c:pt>
                      <c:pt idx="3">
                        <c:v>2482</c:v>
                      </c:pt>
                      <c:pt idx="4">
                        <c:v>2204</c:v>
                      </c:pt>
                      <c:pt idx="5">
                        <c:v>1887</c:v>
                      </c:pt>
                      <c:pt idx="6">
                        <c:v>2421</c:v>
                      </c:pt>
                      <c:pt idx="7">
                        <c:v>502</c:v>
                      </c:pt>
                      <c:pt idx="8">
                        <c:v>2229</c:v>
                      </c:pt>
                      <c:pt idx="9">
                        <c:v>2905</c:v>
                      </c:pt>
                      <c:pt idx="10">
                        <c:v>2699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5100-4E52-BF31-58094EBDB517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Objective'!$A$2:$A$12</c15:sqref>
                        </c15:formulaRef>
                      </c:ext>
                    </c:extLst>
                    <c:strCache>
                      <c:ptCount val="11"/>
                      <c:pt idx="0">
                        <c:v>Pune Warriors</c:v>
                      </c:pt>
                      <c:pt idx="1">
                        <c:v>Gujarat Lions</c:v>
                      </c:pt>
                      <c:pt idx="2">
                        <c:v>Delhi Daredevils</c:v>
                      </c:pt>
                      <c:pt idx="3">
                        <c:v>Sunrisers Hyderabad</c:v>
                      </c:pt>
                      <c:pt idx="4">
                        <c:v>Kolkata Knight Riders</c:v>
                      </c:pt>
                      <c:pt idx="5">
                        <c:v>Rajasthan Royals</c:v>
                      </c:pt>
                      <c:pt idx="6">
                        <c:v>Kings XI Punjab</c:v>
                      </c:pt>
                      <c:pt idx="7">
                        <c:v>Rising Pune Supergiants</c:v>
                      </c:pt>
                      <c:pt idx="8">
                        <c:v>Chennai Super Kings</c:v>
                      </c:pt>
                      <c:pt idx="9">
                        <c:v>Mumbai Indians</c:v>
                      </c:pt>
                      <c:pt idx="10">
                        <c:v>Royal Challengers Bangalore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b Objective'!$C$2:$C$12</c15:sqref>
                        </c15:formulaRef>
                      </c:ext>
                    </c:extLst>
                    <c:numCache>
                      <c:formatCode>General</c:formatCode>
                      <c:ptCount val="11"/>
                      <c:pt idx="0">
                        <c:v>466</c:v>
                      </c:pt>
                      <c:pt idx="1">
                        <c:v>410</c:v>
                      </c:pt>
                      <c:pt idx="2">
                        <c:v>1561</c:v>
                      </c:pt>
                      <c:pt idx="3">
                        <c:v>1720</c:v>
                      </c:pt>
                      <c:pt idx="4">
                        <c:v>1510</c:v>
                      </c:pt>
                      <c:pt idx="5">
                        <c:v>1261</c:v>
                      </c:pt>
                      <c:pt idx="6">
                        <c:v>1610</c:v>
                      </c:pt>
                      <c:pt idx="7">
                        <c:v>324</c:v>
                      </c:pt>
                      <c:pt idx="8">
                        <c:v>1408</c:v>
                      </c:pt>
                      <c:pt idx="9">
                        <c:v>1824</c:v>
                      </c:pt>
                      <c:pt idx="10">
                        <c:v>1558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5100-4E52-BF31-58094EBDB517}"/>
                  </c:ext>
                </c:extLst>
              </c15:ser>
            </c15:filteredBarSeries>
          </c:ext>
        </c:extLst>
      </c:barChart>
      <c:catAx>
        <c:axId val="156808142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81927696"/>
        <c:crosses val="autoZero"/>
        <c:auto val="1"/>
        <c:lblAlgn val="ctr"/>
        <c:lblOffset val="100"/>
        <c:noMultiLvlLbl val="0"/>
      </c:catAx>
      <c:valAx>
        <c:axId val="168192769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680814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3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Economy Rate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'Q12 c Objective'!$B$1</c:f>
              <c:strCache>
                <c:ptCount val="1"/>
                <c:pt idx="0">
                  <c:v>Economy_Rate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c Objective'!$A$2:$A$11</c:f>
              <c:strCache>
                <c:ptCount val="10"/>
                <c:pt idx="0">
                  <c:v>DW Steyn</c:v>
                </c:pt>
                <c:pt idx="1">
                  <c:v>SL Malinga</c:v>
                </c:pt>
                <c:pt idx="2">
                  <c:v>Mustafizur Rahman</c:v>
                </c:pt>
                <c:pt idx="3">
                  <c:v>Z Khan</c:v>
                </c:pt>
                <c:pt idx="4">
                  <c:v>B Kumar</c:v>
                </c:pt>
                <c:pt idx="5">
                  <c:v>SK Trivedi</c:v>
                </c:pt>
                <c:pt idx="6">
                  <c:v>R Rampaul</c:v>
                </c:pt>
                <c:pt idx="7">
                  <c:v>MA Starc</c:v>
                </c:pt>
                <c:pt idx="8">
                  <c:v>R Ashwin</c:v>
                </c:pt>
                <c:pt idx="9">
                  <c:v>SP Narine</c:v>
                </c:pt>
              </c:strCache>
            </c:strRef>
          </c:cat>
          <c:val>
            <c:numRef>
              <c:f>'Q12 c Objective'!$B$2:$B$11</c:f>
              <c:numCache>
                <c:formatCode>General</c:formatCode>
                <c:ptCount val="10"/>
                <c:pt idx="0">
                  <c:v>6.6</c:v>
                </c:pt>
                <c:pt idx="1">
                  <c:v>6.58</c:v>
                </c:pt>
                <c:pt idx="2">
                  <c:v>6.56</c:v>
                </c:pt>
                <c:pt idx="3">
                  <c:v>6.54</c:v>
                </c:pt>
                <c:pt idx="4">
                  <c:v>6.53</c:v>
                </c:pt>
                <c:pt idx="5">
                  <c:v>6.52</c:v>
                </c:pt>
                <c:pt idx="6">
                  <c:v>6.45</c:v>
                </c:pt>
                <c:pt idx="7">
                  <c:v>6.43</c:v>
                </c:pt>
                <c:pt idx="8">
                  <c:v>6.31</c:v>
                </c:pt>
                <c:pt idx="9">
                  <c:v>6.24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B4-4614-BE0B-E93234514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7828848"/>
        <c:axId val="1527829328"/>
        <c:extLst>
          <c:ext xmlns:c15="http://schemas.microsoft.com/office/drawing/2012/chart" uri="{02D57815-91ED-43cb-92C2-25804820EDAC}">
            <c15:filteredBarSeries>
              <c15:ser>
                <c:idx val="1"/>
                <c:order val="1"/>
                <c:tx>
                  <c:strRef>
                    <c:extLst>
                      <c:ext uri="{02D57815-91ED-43cb-92C2-25804820EDAC}">
                        <c15:formulaRef>
                          <c15:sqref>'Q12 c Objective'!$C$1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c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DW Steyn</c:v>
                      </c:pt>
                      <c:pt idx="1">
                        <c:v>SL Malinga</c:v>
                      </c:pt>
                      <c:pt idx="2">
                        <c:v>Mustafizur Rahman</c:v>
                      </c:pt>
                      <c:pt idx="3">
                        <c:v>Z Khan</c:v>
                      </c:pt>
                      <c:pt idx="4">
                        <c:v>B Kumar</c:v>
                      </c:pt>
                      <c:pt idx="5">
                        <c:v>SK Trivedi</c:v>
                      </c:pt>
                      <c:pt idx="6">
                        <c:v>R Rampaul</c:v>
                      </c:pt>
                      <c:pt idx="7">
                        <c:v>MA Starc</c:v>
                      </c:pt>
                      <c:pt idx="8">
                        <c:v>R Ashwin</c:v>
                      </c:pt>
                      <c:pt idx="9">
                        <c:v>SP Narine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c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38</c:v>
                      </c:pt>
                      <c:pt idx="1">
                        <c:v>42</c:v>
                      </c:pt>
                      <c:pt idx="2">
                        <c:v>16</c:v>
                      </c:pt>
                      <c:pt idx="3">
                        <c:v>27</c:v>
                      </c:pt>
                      <c:pt idx="4">
                        <c:v>61</c:v>
                      </c:pt>
                      <c:pt idx="5">
                        <c:v>17</c:v>
                      </c:pt>
                      <c:pt idx="6">
                        <c:v>12</c:v>
                      </c:pt>
                      <c:pt idx="7">
                        <c:v>26</c:v>
                      </c:pt>
                      <c:pt idx="8">
                        <c:v>61</c:v>
                      </c:pt>
                      <c:pt idx="9">
                        <c:v>51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D0B4-4614-BE0B-E9323451469A}"/>
                  </c:ext>
                </c:extLst>
              </c15:ser>
            </c15:filteredBarSeries>
          </c:ext>
        </c:extLst>
      </c:barChart>
      <c:catAx>
        <c:axId val="152782884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9328"/>
        <c:crosses val="autoZero"/>
        <c:auto val="1"/>
        <c:lblAlgn val="ctr"/>
        <c:lblOffset val="100"/>
        <c:noMultiLvlLbl val="0"/>
      </c:catAx>
      <c:valAx>
        <c:axId val="1527829328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78288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4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Dot Ball %</a:t>
            </a:r>
            <a:endParaRPr lang="en-IN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'Q12 d Objective'!$D$1</c:f>
              <c:strCache>
                <c:ptCount val="1"/>
                <c:pt idx="0">
                  <c:v>Dot_Ball_Percentage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d Objective'!$A$2:$A$11</c:f>
              <c:strCache>
                <c:ptCount val="10"/>
                <c:pt idx="0">
                  <c:v>Z Khan</c:v>
                </c:pt>
                <c:pt idx="1">
                  <c:v>DS Kulkarni</c:v>
                </c:pt>
                <c:pt idx="2">
                  <c:v>MG Johnson</c:v>
                </c:pt>
                <c:pt idx="3">
                  <c:v>B Kumar</c:v>
                </c:pt>
                <c:pt idx="4">
                  <c:v>M Morkel</c:v>
                </c:pt>
                <c:pt idx="5">
                  <c:v>Sandeep Sharma</c:v>
                </c:pt>
                <c:pt idx="6">
                  <c:v>NM Coulter-Nile</c:v>
                </c:pt>
                <c:pt idx="7">
                  <c:v>DW Steyn</c:v>
                </c:pt>
                <c:pt idx="8">
                  <c:v>IC Pandey</c:v>
                </c:pt>
                <c:pt idx="9">
                  <c:v>R Rampaul</c:v>
                </c:pt>
              </c:strCache>
            </c:strRef>
          </c:cat>
          <c:val>
            <c:numRef>
              <c:f>'Q12 d Objective'!$D$2:$D$11</c:f>
              <c:numCache>
                <c:formatCode>General</c:formatCode>
                <c:ptCount val="10"/>
                <c:pt idx="0">
                  <c:v>44.52</c:v>
                </c:pt>
                <c:pt idx="1">
                  <c:v>44.62</c:v>
                </c:pt>
                <c:pt idx="2">
                  <c:v>44.68</c:v>
                </c:pt>
                <c:pt idx="3">
                  <c:v>45.12</c:v>
                </c:pt>
                <c:pt idx="4">
                  <c:v>45.14</c:v>
                </c:pt>
                <c:pt idx="5">
                  <c:v>45.22</c:v>
                </c:pt>
                <c:pt idx="6">
                  <c:v>46.08</c:v>
                </c:pt>
                <c:pt idx="7">
                  <c:v>46.99</c:v>
                </c:pt>
                <c:pt idx="8">
                  <c:v>47.76</c:v>
                </c:pt>
                <c:pt idx="9">
                  <c:v>50.36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F0-4C24-BAC2-19EA804ED5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388611951"/>
        <c:axId val="388626831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d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d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602</c:v>
                      </c:pt>
                      <c:pt idx="1">
                        <c:v>809</c:v>
                      </c:pt>
                      <c:pt idx="2">
                        <c:v>1043</c:v>
                      </c:pt>
                      <c:pt idx="3">
                        <c:v>1423</c:v>
                      </c:pt>
                      <c:pt idx="4">
                        <c:v>946</c:v>
                      </c:pt>
                      <c:pt idx="5">
                        <c:v>973</c:v>
                      </c:pt>
                      <c:pt idx="6">
                        <c:v>408</c:v>
                      </c:pt>
                      <c:pt idx="7">
                        <c:v>896</c:v>
                      </c:pt>
                      <c:pt idx="8">
                        <c:v>469</c:v>
                      </c:pt>
                      <c:pt idx="9">
                        <c:v>278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A0F0-4C24-BAC2-19EA804ED5A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Objective'!$C$1</c15:sqref>
                        </c15:formulaRef>
                      </c:ext>
                    </c:extLst>
                    <c:strCache>
                      <c:ptCount val="1"/>
                      <c:pt idx="0">
                        <c:v>Dot_Balls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Z Khan</c:v>
                      </c:pt>
                      <c:pt idx="1">
                        <c:v>DS Kulkarni</c:v>
                      </c:pt>
                      <c:pt idx="2">
                        <c:v>MG Johnson</c:v>
                      </c:pt>
                      <c:pt idx="3">
                        <c:v>B Kumar</c:v>
                      </c:pt>
                      <c:pt idx="4">
                        <c:v>M Morkel</c:v>
                      </c:pt>
                      <c:pt idx="5">
                        <c:v>Sandeep Sharma</c:v>
                      </c:pt>
                      <c:pt idx="6">
                        <c:v>NM Coulter-Nile</c:v>
                      </c:pt>
                      <c:pt idx="7">
                        <c:v>DW Steyn</c:v>
                      </c:pt>
                      <c:pt idx="8">
                        <c:v>IC Pandey</c:v>
                      </c:pt>
                      <c:pt idx="9">
                        <c:v>R Rampaul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d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268</c:v>
                      </c:pt>
                      <c:pt idx="1">
                        <c:v>361</c:v>
                      </c:pt>
                      <c:pt idx="2">
                        <c:v>466</c:v>
                      </c:pt>
                      <c:pt idx="3">
                        <c:v>642</c:v>
                      </c:pt>
                      <c:pt idx="4">
                        <c:v>427</c:v>
                      </c:pt>
                      <c:pt idx="5">
                        <c:v>440</c:v>
                      </c:pt>
                      <c:pt idx="6">
                        <c:v>188</c:v>
                      </c:pt>
                      <c:pt idx="7">
                        <c:v>421</c:v>
                      </c:pt>
                      <c:pt idx="8">
                        <c:v>224</c:v>
                      </c:pt>
                      <c:pt idx="9">
                        <c:v>140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A0F0-4C24-BAC2-19EA804ED5AB}"/>
                  </c:ext>
                </c:extLst>
              </c15:ser>
            </c15:filteredBarSeries>
          </c:ext>
        </c:extLst>
      </c:barChart>
      <c:catAx>
        <c:axId val="388611951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26831"/>
        <c:crosses val="autoZero"/>
        <c:auto val="1"/>
        <c:lblAlgn val="ctr"/>
        <c:lblOffset val="100"/>
        <c:noMultiLvlLbl val="0"/>
      </c:catAx>
      <c:valAx>
        <c:axId val="388626831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388611951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KPI 5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Boundary %</a:t>
            </a:r>
            <a:endParaRPr lang="en-US" b="1" i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3"/>
          <c:order val="3"/>
          <c:tx>
            <c:strRef>
              <c:f>'Q12 e Objective'!$E$1</c:f>
              <c:strCache>
                <c:ptCount val="1"/>
                <c:pt idx="0">
                  <c:v>Boundary_Percentage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'Q12 e Objective'!$A$2:$A$11</c:f>
              <c:strCache>
                <c:ptCount val="10"/>
                <c:pt idx="0">
                  <c:v>DA Warner</c:v>
                </c:pt>
                <c:pt idx="1">
                  <c:v>DR Smith</c:v>
                </c:pt>
                <c:pt idx="2">
                  <c:v>Q de Kock</c:v>
                </c:pt>
                <c:pt idx="3">
                  <c:v>BB McCullum</c:v>
                </c:pt>
                <c:pt idx="4">
                  <c:v>AC Gilchrist</c:v>
                </c:pt>
                <c:pt idx="5">
                  <c:v>V Sehwag</c:v>
                </c:pt>
                <c:pt idx="6">
                  <c:v>CH Gayle</c:v>
                </c:pt>
                <c:pt idx="7">
                  <c:v>GJ Maxwell</c:v>
                </c:pt>
                <c:pt idx="8">
                  <c:v>AB de Villiers</c:v>
                </c:pt>
                <c:pt idx="9">
                  <c:v>AD Russell</c:v>
                </c:pt>
              </c:strCache>
            </c:strRef>
          </c:cat>
          <c:val>
            <c:numRef>
              <c:f>'Q12 e Objective'!$E$2:$E$11</c:f>
              <c:numCache>
                <c:formatCode>General</c:formatCode>
                <c:ptCount val="10"/>
                <c:pt idx="0">
                  <c:v>19.39</c:v>
                </c:pt>
                <c:pt idx="1">
                  <c:v>19.510000000000002</c:v>
                </c:pt>
                <c:pt idx="2">
                  <c:v>19.61</c:v>
                </c:pt>
                <c:pt idx="3">
                  <c:v>19.690000000000001</c:v>
                </c:pt>
                <c:pt idx="4">
                  <c:v>20.09</c:v>
                </c:pt>
                <c:pt idx="5">
                  <c:v>20.39</c:v>
                </c:pt>
                <c:pt idx="6">
                  <c:v>21.36</c:v>
                </c:pt>
                <c:pt idx="7">
                  <c:v>22.64</c:v>
                </c:pt>
                <c:pt idx="8">
                  <c:v>23.12</c:v>
                </c:pt>
                <c:pt idx="9">
                  <c:v>24.46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23-43E2-97D4-5AA0C93AF5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687671120"/>
        <c:axId val="68767208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'Q12 e Objective'!$B$1</c15:sqref>
                        </c15:formulaRef>
                      </c:ext>
                    </c:extLst>
                    <c:strCache>
                      <c:ptCount val="1"/>
                      <c:pt idx="0">
                        <c:v>Total_Balls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'Q12 e Objective'!$B$2:$B$11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1666</c:v>
                      </c:pt>
                      <c:pt idx="1">
                        <c:v>1343</c:v>
                      </c:pt>
                      <c:pt idx="2">
                        <c:v>566</c:v>
                      </c:pt>
                      <c:pt idx="3">
                        <c:v>914</c:v>
                      </c:pt>
                      <c:pt idx="4">
                        <c:v>234</c:v>
                      </c:pt>
                      <c:pt idx="5">
                        <c:v>667</c:v>
                      </c:pt>
                      <c:pt idx="6">
                        <c:v>1189</c:v>
                      </c:pt>
                      <c:pt idx="7">
                        <c:v>583</c:v>
                      </c:pt>
                      <c:pt idx="8">
                        <c:v>1198</c:v>
                      </c:pt>
                      <c:pt idx="9">
                        <c:v>323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6E23-43E2-97D4-5AA0C93AF595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Objective'!$C$1</c15:sqref>
                        </c15:formulaRef>
                      </c:ext>
                    </c:extLst>
                    <c:strCache>
                      <c:ptCount val="1"/>
                      <c:pt idx="0">
                        <c:v>Fours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Objective'!$C$2:$C$11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233</c:v>
                      </c:pt>
                      <c:pt idx="1">
                        <c:v>177</c:v>
                      </c:pt>
                      <c:pt idx="2">
                        <c:v>90</c:v>
                      </c:pt>
                      <c:pt idx="3">
                        <c:v>122</c:v>
                      </c:pt>
                      <c:pt idx="4">
                        <c:v>41</c:v>
                      </c:pt>
                      <c:pt idx="5">
                        <c:v>109</c:v>
                      </c:pt>
                      <c:pt idx="6">
                        <c:v>131</c:v>
                      </c:pt>
                      <c:pt idx="7">
                        <c:v>76</c:v>
                      </c:pt>
                      <c:pt idx="8">
                        <c:v>177</c:v>
                      </c:pt>
                      <c:pt idx="9">
                        <c:v>45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6E23-43E2-97D4-5AA0C93AF595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Objective'!$D$1</c15:sqref>
                        </c15:formulaRef>
                      </c:ext>
                    </c:extLst>
                    <c:strCache>
                      <c:ptCount val="1"/>
                      <c:pt idx="0">
                        <c:v>Sixes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Objective'!$A$2:$A$11</c15:sqref>
                        </c15:formulaRef>
                      </c:ext>
                    </c:extLst>
                    <c:strCache>
                      <c:ptCount val="10"/>
                      <c:pt idx="0">
                        <c:v>DA Warner</c:v>
                      </c:pt>
                      <c:pt idx="1">
                        <c:v>DR Smith</c:v>
                      </c:pt>
                      <c:pt idx="2">
                        <c:v>Q de Kock</c:v>
                      </c:pt>
                      <c:pt idx="3">
                        <c:v>BB McCullum</c:v>
                      </c:pt>
                      <c:pt idx="4">
                        <c:v>AC Gilchrist</c:v>
                      </c:pt>
                      <c:pt idx="5">
                        <c:v>V Sehwag</c:v>
                      </c:pt>
                      <c:pt idx="6">
                        <c:v>CH Gayle</c:v>
                      </c:pt>
                      <c:pt idx="7">
                        <c:v>GJ Maxwell</c:v>
                      </c:pt>
                      <c:pt idx="8">
                        <c:v>AB de Villiers</c:v>
                      </c:pt>
                      <c:pt idx="9">
                        <c:v>AD Russell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'Q12 e Objective'!$D$2:$D$11</c15:sqref>
                        </c15:formulaRef>
                      </c:ext>
                    </c:extLst>
                    <c:numCache>
                      <c:formatCode>General</c:formatCode>
                      <c:ptCount val="10"/>
                      <c:pt idx="0">
                        <c:v>90</c:v>
                      </c:pt>
                      <c:pt idx="1">
                        <c:v>85</c:v>
                      </c:pt>
                      <c:pt idx="2">
                        <c:v>21</c:v>
                      </c:pt>
                      <c:pt idx="3">
                        <c:v>58</c:v>
                      </c:pt>
                      <c:pt idx="4">
                        <c:v>6</c:v>
                      </c:pt>
                      <c:pt idx="5">
                        <c:v>27</c:v>
                      </c:pt>
                      <c:pt idx="6">
                        <c:v>123</c:v>
                      </c:pt>
                      <c:pt idx="7">
                        <c:v>56</c:v>
                      </c:pt>
                      <c:pt idx="8">
                        <c:v>100</c:v>
                      </c:pt>
                      <c:pt idx="9">
                        <c:v>34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6E23-43E2-97D4-5AA0C93AF595}"/>
                  </c:ext>
                </c:extLst>
              </c15:ser>
            </c15:filteredBarSeries>
          </c:ext>
        </c:extLst>
      </c:barChart>
      <c:catAx>
        <c:axId val="687671120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2080"/>
        <c:crosses val="autoZero"/>
        <c:auto val="1"/>
        <c:lblAlgn val="ctr"/>
        <c:lblOffset val="100"/>
        <c:noMultiLvlLbl val="0"/>
      </c:catAx>
      <c:valAx>
        <c:axId val="687672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87671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Most Consistent Batsmen </a:t>
            </a:r>
            <a:r>
              <a:rPr lang="en-IN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baseline="0"/>
              <a:t> Avg Runs Per Season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2"/>
          <c:order val="2"/>
          <c:tx>
            <c:strRef>
              <c:f>'Q14 Objective'!$D$1</c:f>
              <c:strCache>
                <c:ptCount val="1"/>
                <c:pt idx="0">
                  <c:v>Avg_Runs_Per_Season</c:v>
                </c:pt>
              </c:strCache>
            </c:strRef>
          </c:tx>
          <c:spPr>
            <a:solidFill>
              <a:srgbClr val="C00000"/>
            </a:solidFill>
            <a:ln>
              <a:noFill/>
            </a:ln>
            <a:effectLst/>
          </c:spPr>
          <c:invertIfNegative val="0"/>
          <c:cat>
            <c:strRef>
              <c:f>'Q14 Objective'!$A$2:$A$16</c:f>
              <c:strCache>
                <c:ptCount val="15"/>
                <c:pt idx="0">
                  <c:v>SR Watson</c:v>
                </c:pt>
                <c:pt idx="1">
                  <c:v>KA Pollard</c:v>
                </c:pt>
                <c:pt idx="2">
                  <c:v>DA Miller</c:v>
                </c:pt>
                <c:pt idx="3">
                  <c:v>MS Dhoni</c:v>
                </c:pt>
                <c:pt idx="4">
                  <c:v>S Dhawan</c:v>
                </c:pt>
                <c:pt idx="5">
                  <c:v>G Gambhir</c:v>
                </c:pt>
                <c:pt idx="6">
                  <c:v>CH Gayle</c:v>
                </c:pt>
                <c:pt idx="7">
                  <c:v>DR Smith</c:v>
                </c:pt>
                <c:pt idx="8">
                  <c:v>SK Raina</c:v>
                </c:pt>
                <c:pt idx="9">
                  <c:v>AM Rahane</c:v>
                </c:pt>
                <c:pt idx="10">
                  <c:v>RV Uthappa</c:v>
                </c:pt>
                <c:pt idx="11">
                  <c:v>RG Sharma</c:v>
                </c:pt>
                <c:pt idx="12">
                  <c:v>AB de Villiers</c:v>
                </c:pt>
                <c:pt idx="13">
                  <c:v>DA Warner</c:v>
                </c:pt>
                <c:pt idx="14">
                  <c:v>V Kohli</c:v>
                </c:pt>
              </c:strCache>
            </c:strRef>
          </c:cat>
          <c:val>
            <c:numRef>
              <c:f>'Q14 Objective'!$D$2:$D$16</c:f>
              <c:numCache>
                <c:formatCode>General</c:formatCode>
                <c:ptCount val="15"/>
                <c:pt idx="0">
                  <c:v>328.75</c:v>
                </c:pt>
                <c:pt idx="1">
                  <c:v>330</c:v>
                </c:pt>
                <c:pt idx="2">
                  <c:v>345.5</c:v>
                </c:pt>
                <c:pt idx="3">
                  <c:v>372</c:v>
                </c:pt>
                <c:pt idx="4">
                  <c:v>385.5</c:v>
                </c:pt>
                <c:pt idx="5">
                  <c:v>392.25</c:v>
                </c:pt>
                <c:pt idx="6">
                  <c:v>408.5</c:v>
                </c:pt>
                <c:pt idx="7">
                  <c:v>426.75</c:v>
                </c:pt>
                <c:pt idx="8">
                  <c:v>461</c:v>
                </c:pt>
                <c:pt idx="9">
                  <c:v>461.75</c:v>
                </c:pt>
                <c:pt idx="10">
                  <c:v>463</c:v>
                </c:pt>
                <c:pt idx="11">
                  <c:v>474.75</c:v>
                </c:pt>
                <c:pt idx="12">
                  <c:v>492</c:v>
                </c:pt>
                <c:pt idx="13">
                  <c:v>587</c:v>
                </c:pt>
                <c:pt idx="14">
                  <c:v>618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8E-46A3-BDCC-5DEB47677B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528266704"/>
        <c:axId val="1528266224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'Q14 Objective'!$B$1</c15:sqref>
                        </c15:formulaRef>
                      </c:ext>
                    </c:extLst>
                    <c:strCache>
                      <c:ptCount val="1"/>
                      <c:pt idx="0">
                        <c:v>Seasons_Played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'Q14 Objective'!$B$2:$B$16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4</c:v>
                      </c:pt>
                      <c:pt idx="1">
                        <c:v>4</c:v>
                      </c:pt>
                      <c:pt idx="2">
                        <c:v>4</c:v>
                      </c:pt>
                      <c:pt idx="3">
                        <c:v>4</c:v>
                      </c:pt>
                      <c:pt idx="4">
                        <c:v>4</c:v>
                      </c:pt>
                      <c:pt idx="5">
                        <c:v>4</c:v>
                      </c:pt>
                      <c:pt idx="6">
                        <c:v>4</c:v>
                      </c:pt>
                      <c:pt idx="7">
                        <c:v>4</c:v>
                      </c:pt>
                      <c:pt idx="8">
                        <c:v>4</c:v>
                      </c:pt>
                      <c:pt idx="9">
                        <c:v>4</c:v>
                      </c:pt>
                      <c:pt idx="10">
                        <c:v>4</c:v>
                      </c:pt>
                      <c:pt idx="11">
                        <c:v>4</c:v>
                      </c:pt>
                      <c:pt idx="12">
                        <c:v>4</c:v>
                      </c:pt>
                      <c:pt idx="13">
                        <c:v>4</c:v>
                      </c:pt>
                      <c:pt idx="14">
                        <c:v>4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3B8E-46A3-BDCC-5DEB47677BBD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Objective'!$C$1</c15:sqref>
                        </c15:formulaRef>
                      </c:ext>
                    </c:extLst>
                    <c:strCache>
                      <c:ptCount val="1"/>
                      <c:pt idx="0">
                        <c:v>Total_Runs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Objective'!$A$2:$A$16</c15:sqref>
                        </c15:formulaRef>
                      </c:ext>
                    </c:extLst>
                    <c:strCache>
                      <c:ptCount val="15"/>
                      <c:pt idx="0">
                        <c:v>SR Watson</c:v>
                      </c:pt>
                      <c:pt idx="1">
                        <c:v>KA Pollard</c:v>
                      </c:pt>
                      <c:pt idx="2">
                        <c:v>DA Miller</c:v>
                      </c:pt>
                      <c:pt idx="3">
                        <c:v>MS Dhoni</c:v>
                      </c:pt>
                      <c:pt idx="4">
                        <c:v>S Dhawan</c:v>
                      </c:pt>
                      <c:pt idx="5">
                        <c:v>G Gambhir</c:v>
                      </c:pt>
                      <c:pt idx="6">
                        <c:v>CH Gayle</c:v>
                      </c:pt>
                      <c:pt idx="7">
                        <c:v>DR Smith</c:v>
                      </c:pt>
                      <c:pt idx="8">
                        <c:v>SK Raina</c:v>
                      </c:pt>
                      <c:pt idx="9">
                        <c:v>AM Rahane</c:v>
                      </c:pt>
                      <c:pt idx="10">
                        <c:v>RV Uthappa</c:v>
                      </c:pt>
                      <c:pt idx="11">
                        <c:v>RG Sharma</c:v>
                      </c:pt>
                      <c:pt idx="12">
                        <c:v>AB de Villiers</c:v>
                      </c:pt>
                      <c:pt idx="13">
                        <c:v>DA Warner</c:v>
                      </c:pt>
                      <c:pt idx="14">
                        <c:v>V Kohli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'Q14 Objective'!$C$2:$C$16</c15:sqref>
                        </c15:formulaRef>
                      </c:ext>
                    </c:extLst>
                    <c:numCache>
                      <c:formatCode>General</c:formatCode>
                      <c:ptCount val="15"/>
                      <c:pt idx="0">
                        <c:v>1315</c:v>
                      </c:pt>
                      <c:pt idx="1">
                        <c:v>1320</c:v>
                      </c:pt>
                      <c:pt idx="2">
                        <c:v>1382</c:v>
                      </c:pt>
                      <c:pt idx="3">
                        <c:v>1488</c:v>
                      </c:pt>
                      <c:pt idx="4">
                        <c:v>1542</c:v>
                      </c:pt>
                      <c:pt idx="5">
                        <c:v>1569</c:v>
                      </c:pt>
                      <c:pt idx="6">
                        <c:v>1634</c:v>
                      </c:pt>
                      <c:pt idx="7">
                        <c:v>1707</c:v>
                      </c:pt>
                      <c:pt idx="8">
                        <c:v>1844</c:v>
                      </c:pt>
                      <c:pt idx="9">
                        <c:v>1847</c:v>
                      </c:pt>
                      <c:pt idx="10">
                        <c:v>1852</c:v>
                      </c:pt>
                      <c:pt idx="11">
                        <c:v>1899</c:v>
                      </c:pt>
                      <c:pt idx="12">
                        <c:v>1968</c:v>
                      </c:pt>
                      <c:pt idx="13">
                        <c:v>2348</c:v>
                      </c:pt>
                      <c:pt idx="14">
                        <c:v>2472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B8E-46A3-BDCC-5DEB47677BBD}"/>
                  </c:ext>
                </c:extLst>
              </c15:ser>
            </c15:filteredBarSeries>
          </c:ext>
        </c:extLst>
      </c:barChart>
      <c:catAx>
        <c:axId val="1528266704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224"/>
        <c:crosses val="autoZero"/>
        <c:auto val="1"/>
        <c:lblAlgn val="ctr"/>
        <c:lblOffset val="100"/>
        <c:noMultiLvlLbl val="0"/>
      </c:catAx>
      <c:valAx>
        <c:axId val="15282662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528266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2"/>
          <c:order val="2"/>
          <c:tx>
            <c:strRef>
              <c:f>'Subjective Q1 a'!$D$1</c:f>
              <c:strCache>
                <c:ptCount val="1"/>
                <c:pt idx="0">
                  <c:v>Win_Percentage</c:v>
                </c:pt>
              </c:strCache>
            </c:strRef>
          </c:tx>
          <c:spPr>
            <a:solidFill>
              <a:srgbClr val="C00000"/>
            </a:solidFill>
          </c:spPr>
          <c:dPt>
            <c:idx val="0"/>
            <c:bubble3D val="0"/>
            <c:spPr>
              <a:solidFill>
                <a:srgbClr val="C00000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49E3-40EC-B579-31D3FB73DB2D}"/>
              </c:ext>
            </c:extLst>
          </c:dPt>
          <c:dPt>
            <c:idx val="1"/>
            <c:bubble3D val="0"/>
            <c:spPr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49E3-40EC-B579-31D3FB73DB2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'Subjective Q1 a'!$A$2:$A$3</c:f>
              <c:strCache>
                <c:ptCount val="2"/>
                <c:pt idx="0">
                  <c:v>field</c:v>
                </c:pt>
                <c:pt idx="1">
                  <c:v>bat</c:v>
                </c:pt>
              </c:strCache>
            </c:strRef>
          </c:cat>
          <c:val>
            <c:numRef>
              <c:f>'Subjective Q1 a'!$D$2:$D$3</c:f>
              <c:numCache>
                <c:formatCode>General</c:formatCode>
                <c:ptCount val="2"/>
                <c:pt idx="0">
                  <c:v>54.84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9E3-40EC-B579-31D3FB73DB2D}"/>
            </c:ext>
          </c:extLst>
        </c:ser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cap="all" baseline="0"/>
              <a:t>Win % After Toss Decision </a:t>
            </a:r>
            <a:r>
              <a:rPr lang="en-IN" sz="1400" b="1" i="0" u="none" strike="noStrike" kern="1200" cap="all" spc="50" baseline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+mn-lt"/>
                <a:ea typeface="+mn-ea"/>
                <a:cs typeface="+mn-cs"/>
              </a:rPr>
              <a:t>:</a:t>
            </a:r>
            <a:r>
              <a:rPr lang="en-IN" sz="1400" b="1" i="0" u="none" strike="noStrike" cap="all" baseline="0"/>
              <a:t> Overall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dLbls>
          <c:dLblPos val="inEnd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extLst>
          <c:ext xmlns:c15="http://schemas.microsoft.com/office/drawing/2012/chart" uri="{02D57815-91ED-43cb-92C2-25804820EDAC}">
            <c15:filteredPi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Q1 a'!$B$1</c15:sqref>
                        </c15:formulaRef>
                      </c:ext>
                    </c:extLst>
                    <c:strCache>
                      <c:ptCount val="1"/>
                      <c:pt idx="0">
                        <c:v>Total_Matches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6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>
                    <c:ext xmlns:c16="http://schemas.microsoft.com/office/drawing/2014/chart" uri="{C3380CC4-5D6E-409C-BE32-E72D297353CC}">
                      <c16:uniqueId val="{00000008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>
                    <c:ext uri="{CE6537A1-D6FC-4f65-9D91-7224C49458BB}"/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Q1 a'!$B$2:$B$3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155</c:v>
                      </c:pt>
                      <c:pt idx="1">
                        <c:v>100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9-49E3-40EC-B579-31D3FB73DB2D}"/>
                  </c:ext>
                </c:extLst>
              </c15:ser>
            </c15:filteredPieSeries>
            <c15:filteredPi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a'!$C$1</c15:sqref>
                        </c15:formulaRef>
                      </c:ext>
                    </c:extLst>
                    <c:strCache>
                      <c:ptCount val="1"/>
                      <c:pt idx="0">
                        <c:v>Won_After_Toss</c:v>
                      </c:pt>
                    </c:strCache>
                  </c:strRef>
                </c:tx>
                <c:dPt>
                  <c:idx val="0"/>
                  <c:bubble3D val="0"/>
                  <c:spPr>
                    <a:solidFill>
                      <a:schemeClr val="accent1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B-49E3-40EC-B579-31D3FB73DB2D}"/>
                    </c:ext>
                  </c:extLst>
                </c:dPt>
                <c:dPt>
                  <c:idx val="1"/>
                  <c:bubble3D val="0"/>
                  <c:spPr>
                    <a:solidFill>
                      <a:schemeClr val="accent2"/>
                    </a:solidFill>
                    <a:ln>
                      <a:noFill/>
                    </a:ln>
                    <a:effectLst/>
                    <a:scene3d>
                      <a:camera prst="orthographicFront"/>
                      <a:lightRig rig="brightRoom" dir="t"/>
                    </a:scene3d>
                    <a:sp3d prstMaterial="flat">
                      <a:bevelT w="50800" h="101600" prst="angle"/>
                      <a:contourClr>
                        <a:srgbClr val="000000"/>
                      </a:contourClr>
                    </a:sp3d>
                  </c:spPr>
                  <c:extLst xmlns:c15="http://schemas.microsoft.com/office/drawing/2012/chart">
                    <c:ext xmlns:c16="http://schemas.microsoft.com/office/drawing/2014/chart" uri="{C3380CC4-5D6E-409C-BE32-E72D297353CC}">
                      <c16:uniqueId val="{0000000D-49E3-40EC-B579-31D3FB73DB2D}"/>
                    </c:ext>
                  </c:extLst>
                </c:dPt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inEnd"/>
                  <c:showLegendKey val="0"/>
                  <c:showVal val="0"/>
                  <c:showCatName val="0"/>
                  <c:showSerName val="0"/>
                  <c:showPercent val="1"/>
                  <c:showBubbleSize val="0"/>
                  <c:showLeaderLines val="1"/>
                  <c:leaderLines>
                    <c:spPr>
                      <a:ln w="9525" cap="flat" cmpd="sng" algn="ctr">
                        <a:solidFill>
                          <a:schemeClr val="tx1">
                            <a:lumMod val="35000"/>
                            <a:lumOff val="65000"/>
                          </a:schemeClr>
                        </a:solidFill>
                        <a:round/>
                      </a:ln>
                      <a:effectLst/>
                    </c:spPr>
                  </c:leaderLines>
                  <c:extLst xmlns:c15="http://schemas.microsoft.com/office/drawing/2012/chart">
                    <c:ext xmlns:c15="http://schemas.microsoft.com/office/drawing/2012/chart" uri="{CE6537A1-D6FC-4f65-9D91-7224C49458BB}"/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a'!$A$2:$A$3</c15:sqref>
                        </c15:formulaRef>
                      </c:ext>
                    </c:extLst>
                    <c:strCache>
                      <c:ptCount val="2"/>
                      <c:pt idx="0">
                        <c:v>field</c:v>
                      </c:pt>
                      <c:pt idx="1">
                        <c:v>bat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Q1 a'!$C$2:$C$3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85</c:v>
                      </c:pt>
                      <c:pt idx="1">
                        <c:v>43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E-49E3-40EC-B579-31D3FB73DB2D}"/>
                  </c:ext>
                </c:extLst>
              </c15:ser>
            </c15:filteredPieSeries>
          </c:ext>
        </c:extLst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5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Man of the Match Awards — All Teams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Q5 a'!$B$1</c:f>
              <c:strCache>
                <c:ptCount val="1"/>
                <c:pt idx="0">
                  <c:v>MOTM_Awards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Q5 a'!$A$2:$A$16</c:f>
              <c:strCache>
                <c:ptCount val="15"/>
                <c:pt idx="0">
                  <c:v>DA Warner</c:v>
                </c:pt>
                <c:pt idx="1">
                  <c:v>AM Rahane</c:v>
                </c:pt>
                <c:pt idx="2">
                  <c:v>AB de Villiers</c:v>
                </c:pt>
                <c:pt idx="3">
                  <c:v>V Kohli</c:v>
                </c:pt>
                <c:pt idx="4">
                  <c:v>RG Sharma</c:v>
                </c:pt>
                <c:pt idx="5">
                  <c:v>MEK Hussey</c:v>
                </c:pt>
                <c:pt idx="6">
                  <c:v>SK Raina</c:v>
                </c:pt>
                <c:pt idx="7">
                  <c:v>DR Smith</c:v>
                </c:pt>
                <c:pt idx="8">
                  <c:v>AD Russell</c:v>
                </c:pt>
                <c:pt idx="9">
                  <c:v>RA Jadeja</c:v>
                </c:pt>
                <c:pt idx="10">
                  <c:v>CH Gayle</c:v>
                </c:pt>
                <c:pt idx="11">
                  <c:v>A Mishra</c:v>
                </c:pt>
                <c:pt idx="12">
                  <c:v>AJ Finch</c:v>
                </c:pt>
                <c:pt idx="13">
                  <c:v>MS Dhoni</c:v>
                </c:pt>
                <c:pt idx="14">
                  <c:v>JP Faulkner</c:v>
                </c:pt>
              </c:strCache>
            </c:strRef>
          </c:cat>
          <c:val>
            <c:numRef>
              <c:f>'Subjective Q5 a'!$B$2:$B$16</c:f>
              <c:numCache>
                <c:formatCode>General</c:formatCode>
                <c:ptCount val="15"/>
                <c:pt idx="0">
                  <c:v>11</c:v>
                </c:pt>
                <c:pt idx="1">
                  <c:v>10</c:v>
                </c:pt>
                <c:pt idx="2">
                  <c:v>9</c:v>
                </c:pt>
                <c:pt idx="3">
                  <c:v>9</c:v>
                </c:pt>
                <c:pt idx="4">
                  <c:v>8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  <c:pt idx="9">
                  <c:v>6</c:v>
                </c:pt>
                <c:pt idx="10">
                  <c:v>5</c:v>
                </c:pt>
                <c:pt idx="11">
                  <c:v>5</c:v>
                </c:pt>
                <c:pt idx="12">
                  <c:v>5</c:v>
                </c:pt>
                <c:pt idx="13">
                  <c:v>5</c:v>
                </c:pt>
                <c:pt idx="14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6E-4D3C-821C-C82E410B94B2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77344559"/>
        <c:axId val="1877346959"/>
      </c:barChart>
      <c:catAx>
        <c:axId val="187734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7346959"/>
        <c:crosses val="autoZero"/>
        <c:auto val="1"/>
        <c:lblAlgn val="ctr"/>
        <c:lblOffset val="100"/>
        <c:noMultiLvlLbl val="0"/>
      </c:catAx>
      <c:valAx>
        <c:axId val="1877346959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187734455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sz="1400" b="1" i="0" u="none" strike="noStrike" baseline="0"/>
              <a:t>RCB Home vs Away Win Percentage</a:t>
            </a:r>
            <a:endParaRPr lang="en-IN" sz="140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'Subjective Q8'!$A$2</c:f>
              <c:strCache>
                <c:ptCount val="1"/>
                <c:pt idx="0">
                  <c:v>Home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55.17%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Q8'!$B$2:$D$2</c:f>
              <c:numCache>
                <c:formatCode>General</c:formatCode>
                <c:ptCount val="3"/>
                <c:pt idx="0">
                  <c:v>29</c:v>
                </c:pt>
                <c:pt idx="1">
                  <c:v>16</c:v>
                </c:pt>
                <c:pt idx="2">
                  <c:v>55.17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3A1-414E-85C6-95EEB32A2DAC}"/>
            </c:ext>
          </c:extLst>
        </c:ser>
        <c:ser>
          <c:idx val="1"/>
          <c:order val="1"/>
          <c:tx>
            <c:strRef>
              <c:f>'Subjective Q8'!$A$3</c:f>
              <c:strCache>
                <c:ptCount val="1"/>
                <c:pt idx="0">
                  <c:v>Away</c:v>
                </c:pt>
              </c:strCache>
            </c:strRef>
          </c:tx>
          <c:spPr>
            <a:solidFill>
              <a:srgbClr val="C00000"/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45.45%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03A1-414E-85C6-95EEB32A2DA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'Subjective Q8'!$B$1:$D$1</c:f>
              <c:strCache>
                <c:ptCount val="3"/>
                <c:pt idx="0">
                  <c:v>Total_Matches</c:v>
                </c:pt>
                <c:pt idx="1">
                  <c:v>Wins</c:v>
                </c:pt>
                <c:pt idx="2">
                  <c:v>Win_Pct</c:v>
                </c:pt>
              </c:strCache>
            </c:strRef>
          </c:cat>
          <c:val>
            <c:numRef>
              <c:f>'Subjective Q8'!$B$3:$D$3</c:f>
              <c:numCache>
                <c:formatCode>General</c:formatCode>
                <c:ptCount val="3"/>
                <c:pt idx="0">
                  <c:v>33</c:v>
                </c:pt>
                <c:pt idx="1">
                  <c:v>15</c:v>
                </c:pt>
                <c:pt idx="2">
                  <c:v>45.45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A1-414E-85C6-95EEB32A2DA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267934479"/>
        <c:axId val="267926319"/>
      </c:barChart>
      <c:catAx>
        <c:axId val="26793447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67926319"/>
        <c:crosses val="autoZero"/>
        <c:auto val="1"/>
        <c:lblAlgn val="ctr"/>
        <c:lblOffset val="100"/>
        <c:noMultiLvlLbl val="0"/>
      </c:catAx>
      <c:valAx>
        <c:axId val="267926319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6793447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0" baseline="0">
                <a:gradFill>
                  <a:gsLst>
                    <a:gs pos="0">
                      <a:schemeClr val="dk1">
                        <a:lumMod val="50000"/>
                        <a:lumOff val="50000"/>
                      </a:schemeClr>
                    </a:gs>
                    <a:gs pos="100000">
                      <a:schemeClr val="dk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+mn-lt"/>
                <a:ea typeface="+mn-ea"/>
                <a:cs typeface="+mn-cs"/>
              </a:defRPr>
            </a:pPr>
            <a:r>
              <a:rPr lang="en-IN" sz="1200" b="1" i="0" u="none" strike="noStrike" cap="all" baseline="0"/>
              <a:t>Win Percentage trend</a:t>
            </a:r>
            <a:endParaRPr lang="en-US" sz="1200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0" baseline="0">
              <a:gradFill>
                <a:gsLst>
                  <a:gs pos="0">
                    <a:schemeClr val="dk1">
                      <a:lumMod val="50000"/>
                      <a:lumOff val="50000"/>
                    </a:schemeClr>
                  </a:gs>
                  <a:gs pos="100000">
                    <a:schemeClr val="dk1">
                      <a:lumMod val="85000"/>
                      <a:lumOff val="15000"/>
                    </a:schemeClr>
                  </a:gs>
                </a:gsLst>
                <a:lin ang="5400000" scaled="0"/>
              </a:gra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lineChart>
        <c:grouping val="standard"/>
        <c:varyColors val="0"/>
        <c:ser>
          <c:idx val="2"/>
          <c:order val="2"/>
          <c:tx>
            <c:strRef>
              <c:f>'Subjective Q9 b'!$D$1</c:f>
              <c:strCache>
                <c:ptCount val="1"/>
                <c:pt idx="0">
                  <c:v>Win_Pct</c:v>
                </c:pt>
              </c:strCache>
            </c:strRef>
          </c:tx>
          <c:spPr>
            <a:ln w="19050" cap="rnd" cmpd="sng" algn="ctr">
              <a:solidFill>
                <a:schemeClr val="accent3">
                  <a:shade val="95000"/>
                  <a:satMod val="105000"/>
                </a:schemeClr>
              </a:solidFill>
              <a:round/>
            </a:ln>
            <a:effectLst/>
          </c:spPr>
          <c:marker>
            <c:symbol val="circle"/>
            <c:size val="17"/>
            <c:spPr>
              <a:solidFill>
                <a:srgbClr val="C00000"/>
              </a:solidFill>
              <a:ln>
                <a:noFill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numRef>
              <c:f>'Subjective Q9 b'!$A$2:$A$5</c:f>
              <c:numCache>
                <c:formatCode>General</c:formatCode>
                <c:ptCount val="4"/>
                <c:pt idx="0">
                  <c:v>2013</c:v>
                </c:pt>
                <c:pt idx="1">
                  <c:v>2014</c:v>
                </c:pt>
                <c:pt idx="2">
                  <c:v>2015</c:v>
                </c:pt>
                <c:pt idx="3">
                  <c:v>2016</c:v>
                </c:pt>
              </c:numCache>
            </c:numRef>
          </c:cat>
          <c:val>
            <c:numRef>
              <c:f>'Subjective Q9 b'!$D$2:$D$5</c:f>
              <c:numCache>
                <c:formatCode>General</c:formatCode>
                <c:ptCount val="4"/>
                <c:pt idx="0">
                  <c:v>56.25</c:v>
                </c:pt>
                <c:pt idx="1">
                  <c:v>35.71</c:v>
                </c:pt>
                <c:pt idx="2">
                  <c:v>50</c:v>
                </c:pt>
                <c:pt idx="3">
                  <c:v>56.25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D23-483E-B099-B2751C7CA8D6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9196639"/>
        <c:axId val="119199519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'Subjective Q9 b'!$B$1</c15:sqref>
                        </c15:formulaRef>
                      </c:ext>
                    </c:extLst>
                    <c:strCache>
                      <c:ptCount val="1"/>
                      <c:pt idx="0">
                        <c:v>Matches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1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1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'Subjective Q9 b'!$B$2:$B$5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16</c:v>
                      </c:pt>
                      <c:pt idx="1">
                        <c:v>14</c:v>
                      </c:pt>
                      <c:pt idx="2">
                        <c:v>16</c:v>
                      </c:pt>
                      <c:pt idx="3">
                        <c:v>16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3D23-483E-B099-B2751C7CA8D6}"/>
                  </c:ext>
                </c:extLst>
              </c15:ser>
            </c15:filteredLineSeries>
            <c15:filteredLine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b'!$C$1</c15:sqref>
                        </c15:formulaRef>
                      </c:ext>
                    </c:extLst>
                    <c:strCache>
                      <c:ptCount val="1"/>
                      <c:pt idx="0">
                        <c:v>Wins</c:v>
                      </c:pt>
                    </c:strCache>
                  </c:strRef>
                </c:tx>
                <c:spPr>
                  <a:ln w="19050" cap="rnd" cmpd="sng" algn="ctr">
                    <a:solidFill>
                      <a:schemeClr val="accent2">
                        <a:shade val="95000"/>
                        <a:satMod val="105000"/>
                      </a:schemeClr>
                    </a:solidFill>
                    <a:round/>
                  </a:ln>
                  <a:effectLst/>
                </c:spPr>
                <c:marker>
                  <c:symbol val="circle"/>
                  <c:size val="17"/>
                  <c:spPr>
                    <a:solidFill>
                      <a:schemeClr val="lt1"/>
                    </a:solidFill>
                    <a:ln>
                      <a:noFill/>
                    </a:ln>
                    <a:effectLst/>
                  </c:spPr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1" i="0" u="none" strike="noStrike" kern="1200" baseline="0">
                          <a:solidFill>
                            <a:schemeClr val="accent2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b'!$A$2:$A$5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2013</c:v>
                      </c:pt>
                      <c:pt idx="1">
                        <c:v>2014</c:v>
                      </c:pt>
                      <c:pt idx="2">
                        <c:v>2015</c:v>
                      </c:pt>
                      <c:pt idx="3">
                        <c:v>2016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'Subjective Q9 b'!$C$2:$C$5</c15:sqref>
                        </c15:formulaRef>
                      </c:ext>
                    </c:extLst>
                    <c:numCache>
                      <c:formatCode>General</c:formatCode>
                      <c:ptCount val="4"/>
                      <c:pt idx="0">
                        <c:v>9</c:v>
                      </c:pt>
                      <c:pt idx="1">
                        <c:v>5</c:v>
                      </c:pt>
                      <c:pt idx="2">
                        <c:v>8</c:v>
                      </c:pt>
                      <c:pt idx="3">
                        <c:v>9</c:v>
                      </c:pt>
                    </c:numCache>
                  </c:numRef>
                </c:val>
                <c:smooth val="0"/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3D23-483E-B099-B2751C7CA8D6}"/>
                  </c:ext>
                </c:extLst>
              </c15:ser>
            </c15:filteredLineSeries>
          </c:ext>
        </c:extLst>
      </c:lineChart>
      <c:catAx>
        <c:axId val="1191966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Year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9199519"/>
        <c:crosses val="autoZero"/>
        <c:auto val="1"/>
        <c:lblAlgn val="ctr"/>
        <c:lblOffset val="100"/>
        <c:noMultiLvlLbl val="0"/>
      </c:catAx>
      <c:valAx>
        <c:axId val="119199519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/>
                  <a:t>Win Percentage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900" b="0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1919663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4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9050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10800000" scaled="1"/>
        <a:tileRect/>
      </a:gra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46000">
            <a:schemeClr val="phClr"/>
          </a:gs>
          <a:gs pos="100000">
            <a:schemeClr val="phClr">
              <a:lumMod val="20000"/>
              <a:lumOff val="80000"/>
              <a:alpha val="0"/>
            </a:schemeClr>
          </a:gs>
        </a:gsLst>
        <a:path path="circle">
          <a:fillToRect l="50000" t="-80000" r="50000" b="180000"/>
        </a:path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99000">
              <a:schemeClr val="tx1">
                <a:lumMod val="25000"/>
                <a:lumOff val="75000"/>
              </a:schemeClr>
            </a:gs>
            <a:gs pos="0">
              <a:schemeClr val="tx1">
                <a:lumMod val="15000"/>
                <a:lumOff val="85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tx1">
                <a:lumMod val="15000"/>
                <a:lumOff val="85000"/>
              </a:schemeClr>
            </a:gs>
            <a:gs pos="0">
              <a:schemeClr val="tx1">
                <a:lumMod val="5000"/>
                <a:lumOff val="95000"/>
              </a:schemeClr>
            </a:gs>
          </a:gsLst>
          <a:lin ang="5400000" scaled="0"/>
        </a:gra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3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/>
    <cs:defRPr sz="900" kern="120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bg1"/>
    </cs:fontRef>
    <cs:spPr>
      <a:solidFill>
        <a:schemeClr val="tx1">
          <a:lumMod val="50000"/>
          <a:lumOff val="50000"/>
        </a:schemeClr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gradFill>
        <a:gsLst>
          <a:gs pos="100000">
            <a:schemeClr val="phClr">
              <a:alpha val="0"/>
            </a:schemeClr>
          </a:gs>
          <a:gs pos="50000">
            <a:schemeClr val="phClr"/>
          </a:gs>
        </a:gsLst>
        <a:lin ang="5400000" scaled="0"/>
      </a:gradFill>
      <a:sp3d/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 flip="none" rotWithShape="1">
        <a:gsLst>
          <a:gs pos="0">
            <a:schemeClr val="phClr"/>
          </a:gs>
          <a:gs pos="75000">
            <a:schemeClr val="phClr">
              <a:lumMod val="60000"/>
              <a:lumOff val="40000"/>
            </a:schemeClr>
          </a:gs>
          <a:gs pos="51000">
            <a:schemeClr val="phClr">
              <a:alpha val="75000"/>
            </a:schemeClr>
          </a:gs>
          <a:gs pos="100000">
            <a:schemeClr val="phClr">
              <a:lumMod val="20000"/>
              <a:lumOff val="80000"/>
              <a:alpha val="15000"/>
            </a:schemeClr>
          </a:gs>
        </a:gsLst>
        <a:lin ang="5400000" scaled="0"/>
      </a:gradFill>
      <a:ln w="9525" cap="flat" cmpd="sng" algn="ctr">
        <a:solidFill>
          <a:schemeClr val="phClr">
            <a:shade val="95000"/>
          </a:schemeClr>
        </a:solidFill>
        <a:round/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  <a:headEnd type="none" w="sm" len="sm"/>
        <a:tailEnd type="none" w="sm" len="sm"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00" b="1" kern="1200" cap="all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7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18.xml><?xml version="1.0" encoding="utf-8"?>
<cs:chartStyle xmlns:cs="http://schemas.microsoft.com/office/drawing/2012/chartStyle" xmlns:a="http://schemas.openxmlformats.org/drawingml/2006/main" id="23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ategoryAxis>
  <cs:chartArea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cs:styleClr val="auto"/>
    </cs:fontRef>
    <cs:spPr/>
    <cs:defRPr sz="900" b="1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 w="9575">
        <a:solidFill>
          <a:schemeClr val="lt1">
            <a:lumMod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19050" cap="rnd" cmpd="sng" algn="ctr">
        <a:solidFill>
          <a:schemeClr val="phClr">
            <a:shade val="95000"/>
            <a:satMod val="105000"/>
          </a:schemeClr>
        </a:solidFill>
        <a:round/>
      </a:ln>
    </cs:spPr>
  </cs:dataPointLine>
  <cs:dataPointMarker>
    <cs:lnRef idx="0"/>
    <cs:fillRef idx="0"/>
    <cs:effectRef idx="0"/>
    <cs:fontRef idx="minor">
      <a:schemeClr val="dk1"/>
    </cs:fontRef>
    <cs:spPr>
      <a:solidFill>
        <a:schemeClr val="lt1"/>
      </a:solidFill>
    </cs:spPr>
  </cs:dataPointMarker>
  <cs:dataPointMarkerLayout symbol="circle" size="17"/>
  <cs:dataPointWireframe>
    <cs:lnRef idx="0">
      <cs:styleClr val="auto"/>
    </cs:lnRef>
    <cs:fillRef idx="1"/>
    <cs:effectRef idx="0"/>
    <cs:fontRef idx="minor">
      <a:schemeClr val="dk1"/>
    </cs:fontRef>
    <cs:spPr>
      <a:ln w="9525">
        <a:solidFill>
          <a:schemeClr val="phClr"/>
        </a:solidFill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seriesLine>
  <cs:title>
    <cs:lnRef idx="0"/>
    <cs:fillRef idx="0"/>
    <cs:effectRef idx="0"/>
    <cs:fontRef idx="minor">
      <a:schemeClr val="dk1"/>
    </cs:fontRef>
    <cs:defRPr sz="1440" b="0" kern="1200" cap="all" spc="0" baseline="0">
      <a:gradFill>
        <a:gsLst>
          <a:gs pos="0">
            <a:schemeClr val="dk1">
              <a:lumMod val="50000"/>
              <a:lumOff val="50000"/>
            </a:schemeClr>
          </a:gs>
          <a:gs pos="100000">
            <a:schemeClr val="dk1">
              <a:lumMod val="85000"/>
              <a:lumOff val="15000"/>
            </a:schemeClr>
          </a:gs>
        </a:gsLst>
        <a:lin ang="5400000" scaled="0"/>
      </a:gradFill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50000"/>
            <a:lumOff val="50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29D32-3035-B466-631B-4F34D9A303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B7F775-A15F-2D86-FA95-EFE9A7C6EC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03A5A-F8D0-CA77-8FBB-29B925BF2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7CD3D7-8566-446F-BF35-A12835018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E72B54-620E-EBCA-282D-948103033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79119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EAAC4-E773-FCD6-0D5A-27359218A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7F35-28BB-D1F0-99D6-2CEE4C360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CD0A7-1C0F-B8EA-F761-D9F1B5DB22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E649D4-8274-7CB7-FB8E-77D8D659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EA9F3-75B9-CC30-BEC8-0D59618EF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9075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40114-7734-5532-765B-A19B71F592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8E236-B853-EB52-A7C1-0900CC521C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257E4D-CB3B-A3D0-4D67-D9B512ED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4FA1DE-324A-83AE-ED8B-CDD4CC49E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1A108B-BE57-2CE1-1F29-8B4D0BC95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488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04256-CCBF-80E6-8D8B-2E005697F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8A551-6D7D-8D71-D6D1-E145CE3DB4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A4206-377D-E1BA-1FA6-0DCFDE462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8AE615-675E-C010-9388-C3138FEF9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3EEA40-565F-F554-51FB-41438175D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BD393-8FEB-075E-6C29-6C0655FBD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159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65ABD-DAED-1860-0B29-8789B9DBF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D92C9-66CA-DA22-B73A-0EA4C0E3CC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C877C4-B260-740B-63D3-228523564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EE172-EBFD-6752-F739-97A6EEA460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610D72-B44D-BF78-CFBC-76F09FAFB4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C50611-D1C9-EB64-715F-74BA845D8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ABB45-411C-6358-757E-D44FDDDC8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98AD96-1D8D-E610-E5BC-71109A4CE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3955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CA646-24C5-9841-E466-C1B0612B0F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ED654-D521-868E-97D2-B03587512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B041AD-BE2D-581E-2905-BE5268224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6B760D-B4D0-0585-6634-8A225FFB9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7247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5B1650-3163-C67C-31C6-30A9A8F80E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F4587D-47D0-B226-7331-BE3DE5B41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9B4A10-A46A-A419-7F23-8F4ECE96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671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F827C-C916-7123-A54D-C54ACB73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4737A1-7633-A9CE-1C49-001045EE7A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EBBC37-5261-BBAE-4F39-8735E60E8F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56F501-454E-DE4F-2958-DBE1B65DA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62612-A93B-93E5-D5E0-81D69E7C05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0B4BD-9DA4-F0A5-5C23-32F08BE22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448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4D211-3467-BA30-628F-3D7B1B77B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56EC3A-DE75-BC4A-2546-C877A9AA7C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627A4D-31D1-195E-F406-D5835A7B97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3C325-43E9-D042-F2A6-9E51A53A68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95D771-7E59-E21C-0745-26EB45B28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8DD54C-57C5-F642-C896-A64601911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1482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7A42D-9908-5980-F3D5-DCCDC9636A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A788AAB-6752-E73A-355F-4F73810ED5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18C5E-49C6-A9FA-1017-6FE9028D1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B39847-CDCE-5957-2C82-B33E472DC9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616D7-AD4E-C11C-A88F-E3E559BEB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824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4C3AAF0-EE83-42BC-FBA6-54CB24C3BA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D1445A-AE48-5239-3A03-B6A8A74DEE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2A8BBC-4FB0-AB52-C98D-5385CB3C4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7EFA7-E1A1-356A-447A-66972387B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FD287-AB1F-C8D4-30F8-758833812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1268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991159-F2C0-21DF-58BC-65C9CD50B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33567-6E48-88ED-CBD2-26172C59BC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BB1CD2-7060-2ACD-6691-03F03C6FD8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AD4FE6-774D-46C3-B3A9-D728D4531116}" type="datetimeFigureOut">
              <a:rPr lang="en-IN" smtClean="0"/>
              <a:t>24-05-2026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CA5E5-BF11-7A43-9D7D-49C64B5B63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D81301-7AC2-74F7-11D1-904803481A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1586E08-A1BA-4B21-A02D-05F7E1915C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37891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7" Type="http://schemas.openxmlformats.org/officeDocument/2006/relationships/image" Target="../media/image2.png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3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chart" Target="../charts/chart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9.xml"/><Relationship Id="rId2" Type="http://schemas.openxmlformats.org/officeDocument/2006/relationships/chart" Target="../charts/chart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E416276-5902-1439-4198-F7FA9D7321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1C2C32-0595-6912-B66E-A0C393D2EAD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F64832-ABD1-408E-369A-446C891474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33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CA8450-7066-7F80-DCD3-3427337BD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CFFD8B0-6E2E-3D63-5795-CB9145FE126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b="1" dirty="0"/>
              <a:t>Problem Statement</a:t>
            </a:r>
            <a:endParaRPr lang="en-IN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3A715EB-A7D6-49ED-BC5B-FC12394D052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51BD92-035F-1826-3FFE-4EFF205EB5C4}"/>
              </a:ext>
            </a:extLst>
          </p:cNvPr>
          <p:cNvSpPr txBox="1"/>
          <p:nvPr/>
        </p:nvSpPr>
        <p:spPr>
          <a:xfrm>
            <a:off x="4098130" y="885521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THE CHALLENGE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77EEC3C8-5C4F-4E48-1E88-48B64A81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2948" y="1014741"/>
            <a:ext cx="9426103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You are hired as a sport data analyst by RCB for the 2017 mega player auction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team is looking for top-performing and reliable players to win tournaments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Consider both on-field performance AND value for money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Deliver data-driven strategies for selecting best players and optimizing auction investments </a:t>
            </a:r>
          </a:p>
          <a:p>
            <a:pPr marL="285750" marR="0" lvl="0" indent="-28575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has reached the IPL final in 2009, 2011 and 2016, and lost all three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376B1A-20EC-D5D7-F961-7F5E7907AF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6424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70005A-94E3-2BFA-AD42-00353121E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1A40D06-B032-BD01-4652-FEA25320BEA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7EDF6E6-FB2A-F118-0F93-C6F843AB886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0F077-242C-C379-7B62-CAB0E6A298BD}"/>
              </a:ext>
            </a:extLst>
          </p:cNvPr>
          <p:cNvSpPr txBox="1"/>
          <p:nvPr/>
        </p:nvSpPr>
        <p:spPr>
          <a:xfrm>
            <a:off x="4098131" y="777167"/>
            <a:ext cx="399573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DATA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68DFCD1-8A0F-3DAC-6B04-9DB03A77B950}"/>
              </a:ext>
            </a:extLst>
          </p:cNvPr>
          <p:cNvSpPr/>
          <p:nvPr/>
        </p:nvSpPr>
        <p:spPr>
          <a:xfrm>
            <a:off x="9571961" y="144942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18 Tables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78E8AE-B69F-08B3-8259-2D33DA348603}"/>
              </a:ext>
            </a:extLst>
          </p:cNvPr>
          <p:cNvSpPr/>
          <p:nvPr/>
        </p:nvSpPr>
        <p:spPr>
          <a:xfrm>
            <a:off x="9571961" y="246951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469 Players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93D7C96-B8E0-E327-6A71-2E8A053D14F2}"/>
              </a:ext>
            </a:extLst>
          </p:cNvPr>
          <p:cNvSpPr/>
          <p:nvPr/>
        </p:nvSpPr>
        <p:spPr>
          <a:xfrm>
            <a:off x="9591360" y="450969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255 Matches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0B40F-2900-73F9-E5F5-BE1DAA6D45F9}"/>
              </a:ext>
            </a:extLst>
          </p:cNvPr>
          <p:cNvSpPr/>
          <p:nvPr/>
        </p:nvSpPr>
        <p:spPr>
          <a:xfrm>
            <a:off x="9591360" y="3489603"/>
            <a:ext cx="1284051" cy="651754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9 Seasons</a:t>
            </a: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30A5A9F4-677A-3C98-0DAB-670F37621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6" y="1471951"/>
            <a:ext cx="752295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Matches: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255 records covering toss results, winners, venues, and seasons.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Season: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9 seasons (2008–2016) including Orange/Purple Cap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Venue: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35 grounds across India and international locations.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Outcome: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Categories for match results (Win, Tie, No Result).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Win_By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Methods of victory (By Runs or By Wickets).</a:t>
            </a: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5DE9FD9-6954-7105-688E-143D0610C2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7" y="2713092"/>
            <a:ext cx="848005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Ball_by_Ball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37,284+ granular records of every delivery, run, and player involved.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Wicket_Taken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Detailed dismissal data (Who, How, and which ball).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Extra_Runs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Tracking of all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wides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no-balls, and byes per delivery.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Classification of extras (Leg-bye, Wide, etc.).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Out_Type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Categorization of dismissals (Caught, Bowled, LBW, etc.).</a:t>
            </a:r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78F05174-419B-5734-413F-FAB39F2B4E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58" y="3959587"/>
            <a:ext cx="8480058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Biographic data for 469 players, including DOB and skills.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13 franchises, including RCB (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Team_Id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= 2).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Player_Match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Mapping of which player represented which team in specific matches.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Rolee: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Definitive player roles (Batsman, Bowler, All-rounder).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A13C32D-F447-D731-45A8-A131B27BE9AC}"/>
              </a:ext>
            </a:extLst>
          </p:cNvPr>
          <p:cNvSpPr txBox="1"/>
          <p:nvPr/>
        </p:nvSpPr>
        <p:spPr>
          <a:xfrm>
            <a:off x="0" y="4949470"/>
            <a:ext cx="968874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Batting_Style</a:t>
            </a:r>
            <a:r>
              <a:rPr lang="en-US" sz="1600" b="1" dirty="0"/>
              <a:t> / </a:t>
            </a:r>
            <a:r>
              <a:rPr lang="en-US" sz="1600" b="1" dirty="0" err="1"/>
              <a:t>Bowling_Style</a:t>
            </a:r>
            <a:r>
              <a:rPr lang="en-US" sz="1600" b="1" dirty="0"/>
              <a:t>:</a:t>
            </a:r>
            <a:r>
              <a:rPr lang="en-US" sz="1600" dirty="0"/>
              <a:t> Specific technical descriptions (Right-hand, Left-arm fast, etc.).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 err="1"/>
              <a:t>Toss_Decision</a:t>
            </a:r>
            <a:r>
              <a:rPr lang="en-US" sz="1600" b="1" dirty="0"/>
              <a:t>:</a:t>
            </a:r>
            <a:r>
              <a:rPr lang="en-US" sz="1600" dirty="0"/>
              <a:t> Strategic data on Bat vs. Field choices.</a:t>
            </a:r>
          </a:p>
          <a:p>
            <a:pPr marL="742950" lvl="1" indent="-285750"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b="1" dirty="0"/>
              <a:t>Umpire:</a:t>
            </a:r>
            <a:r>
              <a:rPr lang="en-US" sz="1600" dirty="0"/>
              <a:t> Names and nationalities of match officials.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15E688B-8573-83C8-355F-DEF517CB4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3476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82E188-A8E1-C398-FF02-EF0C02B3D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370D7FB-3BDE-8BFB-AED5-641047443B33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E46639-587F-0C44-EC5D-59669E00F29C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7BD0E7E-757C-E630-5FD9-208D19C2D28D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99E053-56C9-2451-3DB8-9686D60F720B}"/>
              </a:ext>
            </a:extLst>
          </p:cNvPr>
          <p:cNvSpPr txBox="1"/>
          <p:nvPr/>
        </p:nvSpPr>
        <p:spPr>
          <a:xfrm>
            <a:off x="4098131" y="777167"/>
            <a:ext cx="399573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METHODOLOGY &amp; APPROACH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930CFB51-88C8-1498-0896-271F6F4A44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2012" y="2436163"/>
            <a:ext cx="11199988" cy="19856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Setup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Loaded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ipl_1.sql &amp; ipl_2.sql. Verified all 18 tables loaded correctly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 Analysis</a:t>
            </a:r>
            <a:r>
              <a:rPr lang="en-US" altLang="en-US" sz="1600" b="1" dirty="0">
                <a:latin typeface="Arial" panose="020B0604020202020204" pitchFamily="34" charset="0"/>
              </a:rPr>
              <a:t>: </a:t>
            </a:r>
            <a:r>
              <a:rPr lang="en-US" altLang="en-US" sz="1600" dirty="0">
                <a:latin typeface="Arial" panose="020B0604020202020204" pitchFamily="34" charset="0"/>
              </a:rPr>
              <a:t>Subjective and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objective queries using JOINs, CTEs, Window Functions, CASE WHEN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KPI Derivation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custom KPIs: powerplay rate, death rate, economy, dot ball %, boundary % 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Recommendations</a:t>
            </a:r>
            <a:r>
              <a:rPr lang="en-US" altLang="en-US" sz="1600" b="1" dirty="0">
                <a:latin typeface="Arial" panose="020B0604020202020204" pitchFamily="34" charset="0"/>
              </a:rPr>
              <a:t>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 model (Avg × SR / 100) to build RCB Dream XI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FF795D-0BB4-F18C-3782-AFE14EE2D3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764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6DF455-C978-B7BF-5126-6F6F2EEC8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CDC7E2-D9A8-48FE-8A33-1CB585E29CB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212AC2-8D62-E7E0-90E8-A2BB18D89BBF}"/>
              </a:ext>
            </a:extLst>
          </p:cNvPr>
          <p:cNvSpPr txBox="1"/>
          <p:nvPr/>
        </p:nvSpPr>
        <p:spPr>
          <a:xfrm>
            <a:off x="7030274" y="777167"/>
            <a:ext cx="75438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en-IN" sz="4000" b="1" dirty="0">
                <a:latin typeface="+mj-lt"/>
              </a:rPr>
            </a:br>
            <a:endParaRPr lang="en-IN" sz="4000" b="1" dirty="0">
              <a:latin typeface="+mj-lt"/>
            </a:endParaRPr>
          </a:p>
          <a:p>
            <a:pPr algn="l">
              <a:buNone/>
            </a:pPr>
            <a:r>
              <a:rPr lang="en-IN" sz="4000" b="1" i="0" dirty="0">
                <a:solidFill>
                  <a:srgbClr val="FFFFFF"/>
                </a:solidFill>
                <a:effectLst/>
                <a:latin typeface="+mj-lt"/>
              </a:rPr>
              <a:t>IPL Data Analysis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7001CDE-8751-469D-A56C-8D35EF549535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CD041CB8-9448-44E8-5E63-712180E121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4763645"/>
              </p:ext>
            </p:extLst>
          </p:nvPr>
        </p:nvGraphicFramePr>
        <p:xfrm>
          <a:off x="66474" y="1834484"/>
          <a:ext cx="6616428" cy="35955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3F1CE207-CD78-CF59-6A41-9A44EE06235B}"/>
              </a:ext>
            </a:extLst>
          </p:cNvPr>
          <p:cNvSpPr txBox="1"/>
          <p:nvPr/>
        </p:nvSpPr>
        <p:spPr>
          <a:xfrm>
            <a:off x="2324100" y="546334"/>
            <a:ext cx="7543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TOP 10 PLAYERS BY STRIKE RATE (MIN. 200 BALLS)</a:t>
            </a:r>
            <a:endParaRPr lang="en-IN" sz="3600" b="1" dirty="0">
              <a:solidFill>
                <a:srgbClr val="C00000"/>
              </a:solidFill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538EA3B-D273-BEB5-0D9C-56BDC2C0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585" y="1564440"/>
            <a:ext cx="5223754" cy="4047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leads with 163.74 SR across 1,194 balls, elite volume and aggression combined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 Russell (163.16) and GJ Maxwell (156.70) are explosive finishers who change matches single-handedly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scores the most runs (2,348) at 141 SR, best combination of volume and speed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Note: Minimum 200 balls filter applied to ensure statistical reliability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020B06F-0B94-B721-D8C2-636A047FB7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69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8FA081-53B4-569C-7884-5FEC4EC1E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A65F4D4-FBE9-22FF-10B9-E8B8BDB0F6BC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FFECD4-5A40-A8C9-B8B2-2EF310814063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908EEE-B591-B0A9-6390-15B1C58C6FD3}"/>
              </a:ext>
            </a:extLst>
          </p:cNvPr>
          <p:cNvSpPr txBox="1"/>
          <p:nvPr/>
        </p:nvSpPr>
        <p:spPr>
          <a:xfrm>
            <a:off x="6687767" y="1687676"/>
            <a:ext cx="491733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RUNS PER MATCH (MIN. 25 MATCHES, AVG &gt; 20)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4D0FB84D-81EC-EB79-EE8F-884AA1B908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229995"/>
              </p:ext>
            </p:extLst>
          </p:nvPr>
        </p:nvGraphicFramePr>
        <p:xfrm>
          <a:off x="105749" y="223737"/>
          <a:ext cx="6252532" cy="65469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Rectangle 3">
            <a:extLst>
              <a:ext uri="{FF2B5EF4-FFF2-40B4-BE49-F238E27FC236}">
                <a16:creationId xmlns:a16="http://schemas.microsoft.com/office/drawing/2014/main" id="{99DE6C6A-D475-21E0-1622-23E494D54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8953" y="2720450"/>
            <a:ext cx="5930631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leads with 39.87 avg across 62 matches, sustained excellence not a purple patch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(38.49) is virtually identical to Kohli, the perfect opening partner for RCB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 de Villiers (34.53 avg + 163.74 SR), only player combining high average AND elite strike rate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E16EAE-1024-B23A-1915-D29A288F64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5435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691E4E7-6803-BDCE-5241-3EFA76D8C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490E0C-6AB3-835B-5F80-AA9466CF3C7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BBABFD5-001D-DBC9-64AB-BCAFCEBB47F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DB1F3-629D-53B1-5FBF-5F78B005C69B}"/>
              </a:ext>
            </a:extLst>
          </p:cNvPr>
          <p:cNvSpPr txBox="1"/>
          <p:nvPr/>
        </p:nvSpPr>
        <p:spPr>
          <a:xfrm>
            <a:off x="5894961" y="1361767"/>
            <a:ext cx="55544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AVERAGE WICKETS PER MATCH (MIN. 10 MATCHES)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E03F5FD1-8D09-3CA4-948B-385CCAD1F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59001326"/>
              </p:ext>
            </p:extLst>
          </p:nvPr>
        </p:nvGraphicFramePr>
        <p:xfrm>
          <a:off x="-1" y="535021"/>
          <a:ext cx="5680953" cy="58644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655A9E16-9561-6B70-EDE4-DFFE7463B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29" y="2211591"/>
            <a:ext cx="6702358" cy="28628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JJ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(2.00 avg) and UT Yadav (2.00) are the most reliable wicket-takers per match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DJ Bravo leads total wickets (81 in 42 matches), the most proven high-volume wicket-taker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 Narine (1.84 avg, 6.24 economy) is the most dangerous AND most economical bowler in IPL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6B6BFF-C14A-43A0-7C64-1D80DD789D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281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8C6CC-5C4C-95D4-F5CF-CC548CF0E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F6EF0B-F241-02D3-A3A8-46CF604B65E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8F5C3F0-1BC1-6019-1565-46A3AB902DC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4F923F-58D3-439E-6332-E188CA7403FD}"/>
              </a:ext>
            </a:extLst>
          </p:cNvPr>
          <p:cNvSpPr txBox="1"/>
          <p:nvPr/>
        </p:nvSpPr>
        <p:spPr>
          <a:xfrm>
            <a:off x="5894961" y="1635948"/>
            <a:ext cx="602311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ALL-ROUNDERS: ABOVE AVERAGE IN BOTH BATTING &amp; BOWLING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A71007C-D5BD-A9FD-7DB8-3F3CA4DEC2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884386"/>
              </p:ext>
            </p:extLst>
          </p:nvPr>
        </p:nvGraphicFramePr>
        <p:xfrm>
          <a:off x="273929" y="598407"/>
          <a:ext cx="4760136" cy="28187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292F10C4-B76E-0D2F-44C2-7A46552010F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18882110"/>
              </p:ext>
            </p:extLst>
          </p:nvPr>
        </p:nvGraphicFramePr>
        <p:xfrm>
          <a:off x="273929" y="3557013"/>
          <a:ext cx="4586896" cy="27025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92EFE37-98A7-31F5-A810-F6B42BEEA5F5}"/>
              </a:ext>
            </a:extLst>
          </p:cNvPr>
          <p:cNvSpPr txBox="1"/>
          <p:nvPr/>
        </p:nvSpPr>
        <p:spPr>
          <a:xfrm>
            <a:off x="5615291" y="2776102"/>
            <a:ext cx="6094378" cy="3242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22 players qualify as genuine all-rounders above average in both batting and bowling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AD Russell (22.91 avg, 163 SR, 1.84 wickets), most balanced all-rounder, dangerous in both departments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MP </a:t>
            </a:r>
            <a:r>
              <a:rPr lang="en-US" sz="1600" dirty="0" err="1"/>
              <a:t>Stoinis</a:t>
            </a:r>
            <a:r>
              <a:rPr lang="en-US" sz="1600" dirty="0"/>
              <a:t> (29.2 avg, 2.25 wickets), best bowling average among all-rounders, massively undervalued</a:t>
            </a:r>
          </a:p>
          <a:p>
            <a:pPr marL="285750" indent="-285750">
              <a:lnSpc>
                <a:spcPct val="150000"/>
              </a:lnSpc>
              <a:spcAft>
                <a:spcPts val="600"/>
              </a:spcAft>
              <a:buClr>
                <a:srgbClr val="CC0000"/>
              </a:buClr>
              <a:buFont typeface="Arial" panose="020B0604020202020204" pitchFamily="34" charset="0"/>
              <a:buChar char="•"/>
            </a:pPr>
            <a:r>
              <a:rPr lang="en-US" sz="1600" dirty="0"/>
              <a:t>All-rounders fill two roles, maximum squad depth per rupee spent at auction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5C40343-C705-81CB-5757-88E376F8D7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1013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33E5B0-13C9-B748-7D99-9EE54E3B6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34519D-9806-6F51-2124-AD747C2C5B56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EA9EA2-80B9-2C24-E433-C12F8EB5E48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184D99-93EE-B2BB-8E8D-89E6CC9D6B05}"/>
              </a:ext>
            </a:extLst>
          </p:cNvPr>
          <p:cNvSpPr txBox="1"/>
          <p:nvPr/>
        </p:nvSpPr>
        <p:spPr>
          <a:xfrm>
            <a:off x="2098320" y="700777"/>
            <a:ext cx="79953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C00000"/>
                </a:solidFill>
              </a:rPr>
              <a:t>RCB WINS &amp; LOSSES AT EACH VENUE</a:t>
            </a:r>
            <a:endParaRPr lang="en-IN" sz="36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5F8D5A0-ABF8-9334-573F-7686A82D61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38828893"/>
              </p:ext>
            </p:extLst>
          </p:nvPr>
        </p:nvGraphicFramePr>
        <p:xfrm>
          <a:off x="6070" y="1887166"/>
          <a:ext cx="5927801" cy="4192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09FAFD3A-6DF5-9B9C-7657-2D793F72B8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68893" y="1754814"/>
            <a:ext cx="5505856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55.17% at M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Stadium across 29 matches, their strongest ground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 No Result matches found, matches with NULL winner properly separated from wins and losses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Worst away venues: Wankhede and Rajiv Gandhi Uppal, only 25% win rate at both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 Chidambaram Stadium, 0 wins in 2 matches, Chennai conditions don't suit RCB's lineup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7901DC-8A20-70BA-261D-3EE8D94F3C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85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EB51AF-120A-AEF0-03C5-7203863EB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CB626E-9E88-1EF3-EF81-B4A2B742FA5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7EE4065-8A11-EBA6-6D0A-14B1DB51BA76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CDD1E-5D08-18A1-35EB-398A727B4584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</a:rPr>
              <a:t>IMPACT OF BOWLING STYLE ON WICKETS TAKEN</a:t>
            </a:r>
            <a:endParaRPr lang="en-IN" sz="32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805A772-96D8-1F26-A68B-33A9F1A732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7756402"/>
              </p:ext>
            </p:extLst>
          </p:nvPr>
        </p:nvGraphicFramePr>
        <p:xfrm>
          <a:off x="321013" y="1754814"/>
          <a:ext cx="5774987" cy="41342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AEC3E621-096F-6189-7F84-22B32D8F0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428" y="2009275"/>
            <a:ext cx="5956572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medium dominates with 617 wickets, most common and most effective bowling style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Right-arm fast averages 2.12 wickets per match, pace is highly effective in T20 despite fewer bowlers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Legbreak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googly (wrist spin) averages 1.90 per match with only 8 bowlers, rare and extremely valuable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should target a quality wrist spinner, high impact, low supply means better auction price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62BD1E-7FC5-269C-4623-1A0A0C1F0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0317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B84384-2980-78D2-99EF-2A2BB9714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0166DE0-B47C-A2BA-749B-E3D580F24C3D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B147A92-C11A-0CFC-F5D3-B54EAF735DC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2FF416-2804-A278-D7C9-990ACD33D65B}"/>
              </a:ext>
            </a:extLst>
          </p:cNvPr>
          <p:cNvSpPr txBox="1"/>
          <p:nvPr/>
        </p:nvSpPr>
        <p:spPr>
          <a:xfrm>
            <a:off x="2098320" y="700777"/>
            <a:ext cx="79953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 dirty="0">
                <a:solidFill>
                  <a:srgbClr val="C00000"/>
                </a:solidFill>
              </a:rPr>
              <a:t>RCB YEAR-ON-YEAR PERFORMANCE COMPARISON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F786E8C-9946-E286-67C4-0C3DF261BE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760227"/>
              </p:ext>
            </p:extLst>
          </p:nvPr>
        </p:nvGraphicFramePr>
        <p:xfrm>
          <a:off x="278856" y="1777995"/>
          <a:ext cx="5956572" cy="42142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E17C9008-95C2-E07C-CF22-58EC37B12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1888" y="2045895"/>
            <a:ext cx="5551255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batting peaked in 2016 at 2,859 runs, best ever batting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Wickets declined every season from 78 (2013) to 71 (2016), bowling getting worse as batting improves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2014 was RCB's worst season, 1,992 runs and only 35.71% win rate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widening runs-wickets gap is the core reason RCB has never won the IPL title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1F91440-8653-7241-F1A0-DD1AED6D00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812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B93D6E-5342-B6E6-FCAF-2E0A9A772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EFD7823-AB33-78FF-5D20-984D5EB43F84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131471-D026-9EB6-38F7-0A9156E1FACF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A12584-25DD-4DC1-0283-E745AF08207B}"/>
              </a:ext>
            </a:extLst>
          </p:cNvPr>
          <p:cNvSpPr txBox="1"/>
          <p:nvPr/>
        </p:nvSpPr>
        <p:spPr>
          <a:xfrm>
            <a:off x="2098320" y="700777"/>
            <a:ext cx="799535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</a:rPr>
              <a:t>KEY PERFORMANCE INDICATORS FOR TEAM STRATEGY</a:t>
            </a:r>
            <a:endParaRPr lang="en-IN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40F5474-C7C3-6CC3-B2A3-EE915E9A8D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18847057"/>
              </p:ext>
            </p:extLst>
          </p:nvPr>
        </p:nvGraphicFramePr>
        <p:xfrm>
          <a:off x="373679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269895A7-8002-C0E0-1DDE-C66B3541CD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94123461"/>
              </p:ext>
            </p:extLst>
          </p:nvPr>
        </p:nvGraphicFramePr>
        <p:xfrm>
          <a:off x="5836110" y="1162442"/>
          <a:ext cx="486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9FDDE4C0-8A35-E4A6-085A-DE147F26DD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0219282"/>
              </p:ext>
            </p:extLst>
          </p:nvPr>
        </p:nvGraphicFramePr>
        <p:xfrm>
          <a:off x="-73595" y="3816781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56EFB3A-9013-3DA7-778B-D43D5240DE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46934845"/>
              </p:ext>
            </p:extLst>
          </p:nvPr>
        </p:nvGraphicFramePr>
        <p:xfrm>
          <a:off x="410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A6CB0759-C3CD-7D35-1FB7-BA49CE7605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2845125"/>
              </p:ext>
            </p:extLst>
          </p:nvPr>
        </p:nvGraphicFramePr>
        <p:xfrm>
          <a:off x="8428991" y="3879120"/>
          <a:ext cx="4320000" cy="259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1FA1118-8B11-1AD7-46CB-BC4F28BD3AA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78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9EC6B-16BE-D2B3-6385-28996AD6E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36E3EA2-5821-1674-813A-B64D38BAF6AE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935B2C-894E-BC02-FB5F-E6F83DCB5DE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7351C1-A1D8-C30E-15E3-BE940E3ABF3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MOST CONSISTENT BATSMEN ACROSS SEASONS (MIN. 4 SEASONS)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9F5E8F6E-FC5F-4C7C-015A-B1FF10D006A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4980276"/>
              </p:ext>
            </p:extLst>
          </p:nvPr>
        </p:nvGraphicFramePr>
        <p:xfrm>
          <a:off x="0" y="1911355"/>
          <a:ext cx="6376345" cy="42458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BCF853F-B83D-18C4-F48D-D05EAFA861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99633" y="1897149"/>
            <a:ext cx="53923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 Kohli averages 618 runs per season with minimum 359, never had a bad IPL season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Warner's minimum season (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410 runs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is higher than most players' average, floor-proof consistency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 Gayle shows high ceiling (720 max) but low floor (196 min), boom or bust, risky auction pick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Consistency across 4+ seasons is a better auction signal than one or two outstanding seasons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6F80C7-4BA3-1E47-A7FF-5C2344C3D7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259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66095-2377-417A-BA80-B27DE705F0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054BD8-4218-60D8-76A9-45C9E6BA84E7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0B1596-D25E-5A48-C725-E42AC4D5D1BB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A368F1-7B8E-CB62-068D-516D2763A2DF}"/>
              </a:ext>
            </a:extLst>
          </p:cNvPr>
          <p:cNvSpPr txBox="1"/>
          <p:nvPr/>
        </p:nvSpPr>
        <p:spPr>
          <a:xfrm>
            <a:off x="2098320" y="700777"/>
            <a:ext cx="799535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HOW DOES TOSS DECISION AFFECT MATCH RESULTS?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223CB4B2-35C0-8DBA-20DE-0C1F6C86004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3954551"/>
              </p:ext>
            </p:extLst>
          </p:nvPr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1">
            <a:extLst>
              <a:ext uri="{FF2B5EF4-FFF2-40B4-BE49-F238E27FC236}">
                <a16:creationId xmlns:a16="http://schemas.microsoft.com/office/drawing/2014/main" id="{812F2F51-65F0-2A8F-8BB1-BF1F57CC8C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2041" y="1569852"/>
            <a:ext cx="6206247" cy="40882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Teams fielding first win 54.84% overall, clear advantage in T20 cricket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At M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fielding first wins 51.85% vs 33.33% batting first, always field first at home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Wankhede is the exception, batting first wins 64.29%, opposite to overall trend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Toss strategy must be venue-specific, a blanket policy would hurt RCB at certain grounds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DF0ACE8-BEA7-5590-9E2F-B23370A047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9156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36F91-9326-7CE0-CAF3-74F32FB94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60E5862-E86D-0982-6142-AFA318FBB6AF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FCB72-5404-47B0-343B-09207F1B026E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E8DAF5-63B3-1A21-E2A8-AE0F01F9D6BA}"/>
              </a:ext>
            </a:extLst>
          </p:cNvPr>
          <p:cNvSpPr txBox="1"/>
          <p:nvPr/>
        </p:nvSpPr>
        <p:spPr>
          <a:xfrm>
            <a:off x="6483420" y="1703724"/>
            <a:ext cx="503159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400" b="1" dirty="0">
                <a:solidFill>
                  <a:srgbClr val="C00000"/>
                </a:solidFill>
              </a:rPr>
              <a:t>MATCH WINNERS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481F78CC-E997-F3FE-BC70-75E4E2B46B0C}"/>
              </a:ext>
            </a:extLst>
          </p:cNvPr>
          <p:cNvGraphicFramePr/>
          <p:nvPr/>
        </p:nvGraphicFramePr>
        <p:xfrm>
          <a:off x="-262648" y="2073509"/>
          <a:ext cx="5904689" cy="35846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B4590A45-11CF-FB73-5356-501A8E4146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03586319"/>
              </p:ext>
            </p:extLst>
          </p:nvPr>
        </p:nvGraphicFramePr>
        <p:xfrm>
          <a:off x="252271" y="850392"/>
          <a:ext cx="5298330" cy="5029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84040402-2C94-2772-BCCE-F9E1C75941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7648" y="2088445"/>
            <a:ext cx="5343144" cy="32321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 Warner leads all players with 11 MOTM awards, most match-winning performances in IPL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Kohli and ABD both have 9 MOTM, but dramatic drop to 5 for Gayle shows over-reliance on 2 players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Players with 5+ MOTM awards consistently lift team morale and performance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075355-5A5B-D84D-EB16-EFFBE0AADA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6768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EBDC2-136A-1C3D-13F7-27A46D83D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A6B3BE7-8A8D-58A3-C860-295A244E3060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DF74FC-C4E6-E2A1-CCC4-8F5D283D9D6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CB8C5B-007D-F396-56DC-D48D5EAF508C}"/>
              </a:ext>
            </a:extLst>
          </p:cNvPr>
          <p:cNvSpPr txBox="1"/>
          <p:nvPr/>
        </p:nvSpPr>
        <p:spPr>
          <a:xfrm>
            <a:off x="5550408" y="1089984"/>
            <a:ext cx="54935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rgbClr val="C00000"/>
                </a:solidFill>
              </a:rPr>
              <a:t>Home Advantage &amp; Past Performance</a:t>
            </a:r>
          </a:p>
        </p:txBody>
      </p:sp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6DA01138-B046-F1AE-C16F-842D4994FA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0650957"/>
              </p:ext>
            </p:extLst>
          </p:nvPr>
        </p:nvGraphicFramePr>
        <p:xfrm>
          <a:off x="237744" y="618428"/>
          <a:ext cx="4700016" cy="3130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6A0B8C6-9195-ADBE-6F3E-007C70CB1B0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8896976"/>
              </p:ext>
            </p:extLst>
          </p:nvPr>
        </p:nvGraphicFramePr>
        <p:xfrm>
          <a:off x="389826" y="3749040"/>
          <a:ext cx="4547934" cy="249053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1">
            <a:extLst>
              <a:ext uri="{FF2B5EF4-FFF2-40B4-BE49-F238E27FC236}">
                <a16:creationId xmlns:a16="http://schemas.microsoft.com/office/drawing/2014/main" id="{E477BBF5-F6CD-88C9-79F7-3FFDC14A4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0408" y="2205597"/>
            <a:ext cx="5955467" cy="3678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 wins 10% more at home than away, but 55% is not dominant enough to win tournaments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2016 was RCB's best batting season (2,859 runs), they reached the final and still lost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wickets declined every season from 78 to 71, the bowling attack gets weaker every year 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>
                <a:srgbClr val="CC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SRH won the 2016 title with BOTH better runs AND wickets, proof that balance wins championships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7B8BB3-D535-C867-A72C-A8884682088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23095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D4C3-0EBA-AD36-81A5-205EB17969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678A5FC-D910-8365-DD6B-D12E391AFCE5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102472-81FB-AFE3-2C96-41B35ADC92B0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685C95-2A37-715C-B45F-2BE67AC2D468}"/>
              </a:ext>
            </a:extLst>
          </p:cNvPr>
          <p:cNvSpPr txBox="1"/>
          <p:nvPr/>
        </p:nvSpPr>
        <p:spPr>
          <a:xfrm>
            <a:off x="1840441" y="665100"/>
            <a:ext cx="85111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</a:rPr>
              <a:t>RCB DREAM XI — 2017 MEGA AUCTION STRATEGY</a:t>
            </a:r>
            <a:endParaRPr lang="en-IN" sz="2800" b="1" dirty="0">
              <a:solidFill>
                <a:srgbClr val="C00000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62F4CBB-E6BA-9F9B-CA9A-F478CC2F6D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18407"/>
              </p:ext>
            </p:extLst>
          </p:nvPr>
        </p:nvGraphicFramePr>
        <p:xfrm>
          <a:off x="2076451" y="1394909"/>
          <a:ext cx="7758213" cy="2953353"/>
        </p:xfrm>
        <a:graphic>
          <a:graphicData uri="http://schemas.openxmlformats.org/drawingml/2006/table">
            <a:tbl>
              <a:tblPr firstRow="1" firstCol="1" bandRow="1">
                <a:tableStyleId>{72833802-FEF1-4C79-8D5D-14CF1EAF98D9}</a:tableStyleId>
              </a:tblPr>
              <a:tblGrid>
                <a:gridCol w="1154000">
                  <a:extLst>
                    <a:ext uri="{9D8B030D-6E8A-4147-A177-3AD203B41FA5}">
                      <a16:colId xmlns:a16="http://schemas.microsoft.com/office/drawing/2014/main" val="3654772450"/>
                    </a:ext>
                  </a:extLst>
                </a:gridCol>
                <a:gridCol w="959349">
                  <a:extLst>
                    <a:ext uri="{9D8B030D-6E8A-4147-A177-3AD203B41FA5}">
                      <a16:colId xmlns:a16="http://schemas.microsoft.com/office/drawing/2014/main" val="3147968475"/>
                    </a:ext>
                  </a:extLst>
                </a:gridCol>
                <a:gridCol w="945445">
                  <a:extLst>
                    <a:ext uri="{9D8B030D-6E8A-4147-A177-3AD203B41FA5}">
                      <a16:colId xmlns:a16="http://schemas.microsoft.com/office/drawing/2014/main" val="2485700026"/>
                    </a:ext>
                  </a:extLst>
                </a:gridCol>
                <a:gridCol w="764698">
                  <a:extLst>
                    <a:ext uri="{9D8B030D-6E8A-4147-A177-3AD203B41FA5}">
                      <a16:colId xmlns:a16="http://schemas.microsoft.com/office/drawing/2014/main" val="3648424024"/>
                    </a:ext>
                  </a:extLst>
                </a:gridCol>
                <a:gridCol w="903734">
                  <a:extLst>
                    <a:ext uri="{9D8B030D-6E8A-4147-A177-3AD203B41FA5}">
                      <a16:colId xmlns:a16="http://schemas.microsoft.com/office/drawing/2014/main" val="1448220569"/>
                    </a:ext>
                  </a:extLst>
                </a:gridCol>
                <a:gridCol w="973253">
                  <a:extLst>
                    <a:ext uri="{9D8B030D-6E8A-4147-A177-3AD203B41FA5}">
                      <a16:colId xmlns:a16="http://schemas.microsoft.com/office/drawing/2014/main" val="358415805"/>
                    </a:ext>
                  </a:extLst>
                </a:gridCol>
                <a:gridCol w="778602">
                  <a:extLst>
                    <a:ext uri="{9D8B030D-6E8A-4147-A177-3AD203B41FA5}">
                      <a16:colId xmlns:a16="http://schemas.microsoft.com/office/drawing/2014/main" val="2585250100"/>
                    </a:ext>
                  </a:extLst>
                </a:gridCol>
                <a:gridCol w="1279132">
                  <a:extLst>
                    <a:ext uri="{9D8B030D-6E8A-4147-A177-3AD203B41FA5}">
                      <a16:colId xmlns:a16="http://schemas.microsoft.com/office/drawing/2014/main" val="2823538614"/>
                    </a:ext>
                  </a:extLst>
                </a:gridCol>
              </a:tblGrid>
              <a:tr h="399388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Order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Role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Player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Runs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Strike Rate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 err="1">
                          <a:effectLst/>
                        </a:rPr>
                        <a:t>Avg</a:t>
                      </a:r>
                      <a:r>
                        <a:rPr lang="en-IN" sz="1100" dirty="0">
                          <a:effectLst/>
                        </a:rPr>
                        <a:t> Wickets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Economy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Composite Score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CC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745146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V Kohli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39.87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135.68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54.09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25713922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2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Opener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DA Warner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38.49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140.94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54.25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15713356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AB de Villiers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34.53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164.27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56.72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435763"/>
                  </a:ext>
                </a:extLst>
              </a:tr>
              <a:tr h="399388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Middle Order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CH Gayle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33.35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137.43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45.83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1705553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5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AD Russell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22.91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163.16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37.38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3123134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SR Watson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24.81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131.11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1.74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7.39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32.54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5253291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All-rounder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RA Jadeja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13.4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117.96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6781878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JJ Bumrah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2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11584337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9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SP Narine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6.24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93084859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10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DJ Bravo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1.93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7.77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90735780"/>
                  </a:ext>
                </a:extLst>
              </a:tr>
              <a:tr h="195021"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Bowler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SL Malinga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—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1.83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buNone/>
                      </a:pPr>
                      <a:r>
                        <a:rPr lang="en-IN" sz="1100">
                          <a:effectLst/>
                        </a:rPr>
                        <a:t>6.58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IN" sz="1100" dirty="0">
                          <a:effectLst/>
                        </a:rPr>
                        <a:t>—</a:t>
                      </a:r>
                      <a:endParaRPr lang="en-IN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312783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F4755FD3-F01F-3BBC-A31C-9D3EE7AC3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40441" y="4439723"/>
            <a:ext cx="10465341" cy="15240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Composite score = Avg Runs × Strike Rate ÷ 100, objective ranking without bias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ABD scores highest at 56.72, best combination of consistency and aggression in IPL history </a:t>
            </a:r>
          </a:p>
          <a:p>
            <a:pPr marL="285750" marR="0" lvl="0" indent="-285750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>
                <a:srgbClr val="C00000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Bumrah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Narine address RCB's biggest gap, reliable wicket-taking bowlers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F0B7FE-C752-A7CE-295E-9FB5BD24B8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22465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5B2BB-813C-90F2-A138-C2FCF003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6493A65-C203-0111-5C94-25A6A2585DD8}"/>
              </a:ext>
            </a:extLst>
          </p:cNvPr>
          <p:cNvSpPr/>
          <p:nvPr/>
        </p:nvSpPr>
        <p:spPr>
          <a:xfrm>
            <a:off x="0" y="-1"/>
            <a:ext cx="12192000" cy="458513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101D88-05DE-C7DF-14B6-3CF5607E540C}"/>
              </a:ext>
            </a:extLst>
          </p:cNvPr>
          <p:cNvSpPr/>
          <p:nvPr/>
        </p:nvSpPr>
        <p:spPr>
          <a:xfrm>
            <a:off x="0" y="6399488"/>
            <a:ext cx="12192000" cy="458512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33559E-480B-4AA7-782A-8FCA24FAB640}"/>
              </a:ext>
            </a:extLst>
          </p:cNvPr>
          <p:cNvSpPr txBox="1"/>
          <p:nvPr/>
        </p:nvSpPr>
        <p:spPr>
          <a:xfrm>
            <a:off x="4287612" y="567823"/>
            <a:ext cx="361677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solidFill>
                  <a:srgbClr val="C00000"/>
                </a:solidFill>
              </a:rPr>
              <a:t>CONCLUSION 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7484B854-151A-E2A4-E593-99D4BBE2C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298" y="1497979"/>
            <a:ext cx="11361908" cy="242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RCB's batting is already elite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Kohli, ABD, Warner top every metric. Don't over-invest here.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Bowling has declined 4 seasons straight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78 wickets in 2013 down to 71 in 2016. Fix this first.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advantage is real but underutilized</a:t>
            </a:r>
            <a:r>
              <a:rPr lang="en-US" altLang="en-US" dirty="0"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55% at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Chinnaswamy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Right players can push this to 65%+.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All-rounders are the smartest buys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Russell, Watson, Jadeja fill two roles. Maximum value per rupee.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Follow the data, not the hype</a:t>
            </a:r>
            <a:r>
              <a:rPr lang="en-US" altLang="en-US" dirty="0">
                <a:latin typeface="Arial" panose="020B0604020202020204" pitchFamily="34" charset="0"/>
              </a:rPr>
              <a:t>,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Composite scores and 4-season consistency beat reputation every time.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2E3CB1-C8AB-2EB9-DD80-7A6B0E0DD298}"/>
              </a:ext>
            </a:extLst>
          </p:cNvPr>
          <p:cNvSpPr txBox="1"/>
          <p:nvPr/>
        </p:nvSpPr>
        <p:spPr>
          <a:xfrm>
            <a:off x="759422" y="4963751"/>
            <a:ext cx="109915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rgbClr val="C00000"/>
                </a:solidFill>
              </a:rPr>
              <a:t>RCB has come close three times. The data shows exactly what's missing. 2017 is the year to get it right.</a:t>
            </a:r>
            <a:endParaRPr lang="en-IN" b="1" i="1" dirty="0">
              <a:solidFill>
                <a:srgbClr val="C00000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E7BA1D-E55A-E6A6-3B44-9EF9C6E5F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112966" y="478176"/>
            <a:ext cx="1073340" cy="1073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6333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30DC1174E4F14897AC05E8317E8CC4" ma:contentTypeVersion="18" ma:contentTypeDescription="Create a new document." ma:contentTypeScope="" ma:versionID="805f5991a5c62bd4a3db52c8e0bb90d2">
  <xsd:schema xmlns:xsd="http://www.w3.org/2001/XMLSchema" xmlns:xs="http://www.w3.org/2001/XMLSchema" xmlns:p="http://schemas.microsoft.com/office/2006/metadata/properties" xmlns:ns3="49f90a7d-b244-4654-a126-c59eee7b55d2" xmlns:ns4="66875c93-982d-4d86-8e2d-3d469ab403d9" targetNamespace="http://schemas.microsoft.com/office/2006/metadata/properties" ma:root="true" ma:fieldsID="36079bd652e5854bc7f8510f325957e9" ns3:_="" ns4:_="">
    <xsd:import namespace="49f90a7d-b244-4654-a126-c59eee7b55d2"/>
    <xsd:import namespace="66875c93-982d-4d86-8e2d-3d469ab403d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ObjectDetectorVersions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f90a7d-b244-4654-a126-c59eee7b55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5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875c93-982d-4d86-8e2d-3d469ab403d9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f90a7d-b244-4654-a126-c59eee7b55d2" xsi:nil="true"/>
  </documentManagement>
</p:properties>
</file>

<file path=customXml/itemProps1.xml><?xml version="1.0" encoding="utf-8"?>
<ds:datastoreItem xmlns:ds="http://schemas.openxmlformats.org/officeDocument/2006/customXml" ds:itemID="{11C34991-42BC-4AE5-9996-043DB960D1E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620267C-09BC-40D2-BA4C-4C992CE0A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f90a7d-b244-4654-a126-c59eee7b55d2"/>
    <ds:schemaRef ds:uri="66875c93-982d-4d86-8e2d-3d469ab403d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366D230-1BD5-4B91-979D-EA73205E4727}">
  <ds:schemaRefs>
    <ds:schemaRef ds:uri="http://www.w3.org/XML/1998/namespace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schemas.microsoft.com/office/2006/documentManagement/types"/>
    <ds:schemaRef ds:uri="66875c93-982d-4d86-8e2d-3d469ab403d9"/>
    <ds:schemaRef ds:uri="49f90a7d-b244-4654-a126-c59eee7b55d2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1593</Words>
  <Application>Microsoft Office PowerPoint</Application>
  <PresentationFormat>Widescreen</PresentationFormat>
  <Paragraphs>234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saitarun kandunuri</dc:creator>
  <cp:lastModifiedBy>shivam gupta</cp:lastModifiedBy>
  <cp:revision>3</cp:revision>
  <dcterms:created xsi:type="dcterms:W3CDTF">2026-04-04T09:47:36Z</dcterms:created>
  <dcterms:modified xsi:type="dcterms:W3CDTF">2026-05-24T14:32:49Z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0x010100F530DC1174E4F14897AC05E8317E8CC4</vt:lpwstr>
  </property>
</Properties>
</file>